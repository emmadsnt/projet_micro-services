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5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6020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(30 s). On se présente : Asma Yazidi et Emma Dos Santos. Le projet : trois TP qui construisent la même petite application de commandes, avec trois façons de faire communiquer les services : appels REST, événements Kafka, puis un service de Machine Learning branché sur Kafka.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 fil conducteur : une petite application avec des clients et des commandes. On l'a construite trois fois. TP1 : les services s'appellent directement en REST, c'est synchrone. TP2 : on remplace les appels par des événements Kafka, c'est asynchrone. TP3 : on ajoute un service de Machine Learning qui fonctionne aussi par Kafka, et on le fait passer à l'échelle. Tout est en Python avec Flask, et chaque service tourne dans un conteneur Docker. Le sujet mentionnait Spring Boot, on a gardé Python pour rester cohérent avec le TP3.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partie : l'API REST.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Deux services Flask. clients expose GET /clients et GET /clients/id. commandes expose les commandes, et pour une commande donnée il appelle clients en HTTP avec la bibliothèque requests, puis renvoie la commande enrichie avec les infos du client. Les deux conteneurs sont sur un réseau Docker personnalisé, tp-net, ce qui permet à commandes de joindre clients par son nom : http://clients:8080. On ne peut pas utiliser localhost, qui désigne le conteneur lui-même. Les deux services écoutent sur 8080 à l'intérieur, et on les expose en 8080 et 8081 sur la machine pour éviter le conflit.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On a testé les trois cas d'erreur avec curl -i pour voir le code HTTP. Client ou commande inexistants : 404. Et le cas intéressant : on arrête le conteneur clients avec docker stop, et commandes renvoie 503 Service Unavailable. On a choisi 503 plutôt que 500 parce que ce n'est pas commandes qui a un bug, c'est un service dont il dépend qui est indisponible. Le timeout de 3 secondes l'empêche de bloquer. Mais au final la demande échoue : c'est exactement le problème que Kafka va régler au TP2.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Les captures de nos tests. À gauche, docker ps montre les deux conteneurs, et l'appel à commandes/1 renvoie bien la commande avec Alice imbriquée : commandes a appelé clients. À droite, les tests d'erreur avec curl -i : les deux 404, puis la 503 une fois clients arrêté.</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partie : Kafka.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Changement de philosophie. commandes n'appelle plus personne. Quand on crée une commande avec POST /commandes, il publie un événement dans le topic Kafka commandes-creees et répond 201 immédiatement. Kafka, lancé en mode KRaft avec l'image officielle apache/kafka, stocke l'événement. De l'autre côté, clients lit le topic et compte les commandes par client, et un troisième service, statistiques, calcule les commandes par produit et le chiffre d'affaires par mois. Tout est lancé avec un seul docker-compose. Kafka a deux adresses : kafka:9092 pour les conteneurs, localhost:9094 depuis la machine.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Voici un événement tel qu'il passe dans Kafka. C'est du JSON, converti en octets par un serializer. On envoie client_id comme clé du message : Kafka met tous les messages d'une même clé dans la même partition, donc les commandes d'un client restent ordonnées. On l'a vu dans nos logs : Alex toujours sur la partition 0, Alice et Madeleine sur la 1. Côté clients, le consommateur tourne dans un thread séparé pour ne pas bloquer Flask. Pour le service statistiques, on a ajouté une date dans l'événement : sans elle, impossible de calculer un chiffre d'affaires par mois. Résultat obtenu : 1000 en septembre, 920 en octobre.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Le test le plus parlant du TP2. On refait la panne du TP1 : on arrête clients. Cette fois, commandes répond normalement, il ne dépend plus de clients. Avec kafka-consumer-groups --describe, on voit que le groupe clients-group n'a plus de membre actif et que le LAG vaut 1 sur chaque partition, donc 2 messages en attente. On redémarre clients : il lit uniquement les deux commandes manquées, Ecran et Clavier, sans relire les anciennes, et le LAG revient à 0. C'est grâce à l'offset que Kafka garde pour chaque groupe. Une limite : le compteur de commandes repart de zéro, parce qu'il est en mémoire. Pour le garder, il faudrait une base de données.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Les preuves du test de panne. À gauche, le groupe clients-group pendant l'arrêt : aucun membre actif et un message en attente par partition. À droite, les logs après le redémarrage : clients se reconnecte et lit les deux commandes manquées, puis le describe montre un LAG à 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Dernière question du TP2. On a lancé deux consommateurs dans le même groupe, groupe-A. Kafka leur a donné une partition chacun. On envoie trois commandes : Stylo va sur la partition 0 et n'est lu que par conso-a1, Sac et Lampe vont sur la partition 1 et ne sont lus que par conso-a2. Dans un groupe, les messages sont répartis. À l'inverse, clients et statistiques sont dans deux groupes différents : les deux ont reçu les trois commandes. Entre groupes, les messages sont dupliqués. Limite : avec 2 partitions, un troisième consommateur dans groupe-A resterait inactif.</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À gauche, les logs des deux consommateurs du groupe-A : chaque commande n'apparaît que chez un seul. À droite, clients et statistiques, dans deux groupes différents, affichent les mêmes trois commandes.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partie : le microservice de prédiction.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Au TP3, on garde Kafka et commandes, et on ajoute un service prediction. commandes a une nouvelle route POST /predictions qui publie les caractéristiques d'un client dans le topic demandes-prediction, et répond 202 Accepted : la demande est acceptée, mais le résultat viendra plus tard. prediction lit ce topic, construit un DataFrame avec les 6 colonnes dans le même ordre qu'à l'entraînement, fait predict et predict_proba, et publie le résultat dans resultats-predictions. commandes lit ce second topic et affiche le résultat. Point important : prediction charge le modèle une seule fois au démarrage, l'entraînement se fait à part.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 sujet ne donne pas de données historiques, donc on les a simulées : 2000 clients avec les 6 variables du sujet, et une cible construite avec une règle simple plus du bruit. On a choisi une Random Forest, proposée par le sujet, parce qu'elle donne aussi une probabilité. On obtient 90,5 % de bonnes prédictions sur le jeu de test. Sur l'exemple du sujet, le client 25, le modèle prédit 1 avec 0,69. Pour un client sans ancienneté qui n'a pas commandé depuis 300 jours, il prédit 0 avec 0,01. Il faut être honnête : ces chiffres valent pour nos données simulées. On a entraîné dans la même image Docker que le service, car un fichier pkl dépend de la version de scikit-learn.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À gauche, la sortie du script d'entraînement. À droite, les trois terminaux pendant le test : en haut les logs de prediction avec le client, la prédiction et la probabilité ; au milieu commandes qui reçoit les résultats ; en bas les deux curl POST /predictions.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Questions avancées. On a ajouté un générateur qui envoie une demande toutes les 0,5 seconde, et le nombre d'instances de prediction est un paramètre K, grâce à deploy replicas dans le docker-compose. Avec K égal 3 et un topic à 3 partitions, Kafka donne une partition à chaque instance, on le voit dans les logs. Ensuite on arrête deux instances : pendant une dizaine de secondes, le groupe est en rééquilibrage et le LAG monte. Puis la seule instance restante reprend les 3 partitions et le LAG redescend. Aucune demande perdue. Pour la montée en charge : on ajoute des instances, et Kafka sert de tampon. La limite, c'est le nombre de partitions : on peut en ajouter, mais pas en retirer.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À gauche, les logs avec trois instances, chacune sur sa partition. Au milieu, après avoir arrêté prediction-2 et prediction-3 : il ne reste que prediction-1, qui traite maintenant les partitions 0, 1 et 2. En bas, le describe du groupe confirme : le même consommateur sur les trois partitions et un LAG presque nul, donc aucune demande perdue.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Pour résumer ce qu'on a vu en pratique. REST : simple, on a la réponse tout de suite, mais commandes dépend directement de clients, et si clients tombe on a une 503. Kafka : les services ne se connaissent plus, une panne ne fait rien perdre, et on a pu ajouter statistiques sans toucher au producteur. On passe à l'échelle en ajoutant des instances. En contrepartie, la réponse n'est plus immédiate, il faut faire tourner un broker, et c'est plus dur à déboguer. Les deux ont leur place : REST quand on a besoin d'une réponse tout de suite, Kafka pour des traitements qui peuvent attendre ou qui intéressent plusieurs services.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Quelques limites qu'on assume. Les compteurs et statistiques sont en mémoire et repartent de zéro au redémarrage d'un conteneur. Le modèle est entraîné sur des données simulées. Kafka garantit au moins une fois : après une panne, quelques demandes peuvent être retraitées, ce qui n'est pas grave pour une prédiction mais le serait pour un paiement. Et le nombre d'instances K est fixé à la main ; en production, un outil comme Kubernetes pourrait l'ajuster automatiquement en fonction du LAG.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On peut ouvrir le dépôt pour montrer le code ou relancer une démo si le temps le permet.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32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71041"/>
            <a:ext cx="10566400" cy="407415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32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71041"/>
            <a:ext cx="10566400" cy="407415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F2A65A"/>
                </a:solidFill>
                <a:latin typeface="JetBrains Mono" pitchFamily="49" charset="0"/>
                <a:ea typeface="JetBrains Mono" pitchFamily="49" charset="-122"/>
                <a:cs typeface="JetBrains Mono" pitchFamily="49" charset="-120"/>
              </a:rPr>
              <a:t>CY TECH · ING2 · PROJET MICROSERVICES</a:t>
            </a:r>
            <a:endParaRPr lang="en-US" sz="1400" dirty="0"/>
          </a:p>
        </p:txBody>
      </p:sp>
      <p:sp>
        <p:nvSpPr>
          <p:cNvPr id="3" name="Text 1"/>
          <p:cNvSpPr>
            <a:spLocks noGrp="1"/>
          </p:cNvSpPr>
          <p:nvPr>
            <p:ph type="title"/>
          </p:nvPr>
        </p:nvSpPr>
        <p:spPr>
          <a:xfrm>
            <a:off x="812800" y="230251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4EF"/>
                </a:solidFill>
                <a:latin typeface="IBM Plex Sans" pitchFamily="34" charset="0"/>
                <a:ea typeface="IBM Plex Sans" pitchFamily="34" charset="-122"/>
                <a:cs typeface="IBM Plex Sans" pitchFamily="34" charset="-120"/>
              </a:rPr>
              <a:t>REST, Kafka</a:t>
            </a:r>
            <a:endParaRPr lang="en-US" sz="6000" dirty="0"/>
          </a:p>
          <a:p>
            <a:pPr marL="0" indent="0" algn="l">
              <a:lnSpc>
                <a:spcPts val="6300"/>
              </a:lnSpc>
              <a:buNone/>
            </a:pPr>
            <a:r>
              <a:rPr lang="en-US" sz="6000" b="1" i="0" dirty="0">
                <a:solidFill>
                  <a:srgbClr val="F6F4EF"/>
                </a:solidFill>
                <a:latin typeface="IBM Plex Sans" pitchFamily="34" charset="0"/>
                <a:ea typeface="IBM Plex Sans" pitchFamily="34" charset="-122"/>
                <a:cs typeface="IBM Plex Sans" pitchFamily="34" charset="-120"/>
              </a:rPr>
              <a:t>et prédiction ML</a:t>
            </a:r>
            <a:endParaRPr lang="en-US" sz="6000" dirty="0"/>
          </a:p>
        </p:txBody>
      </p:sp>
      <p:sp>
        <p:nvSpPr>
          <p:cNvPr id="4" name="Text 2"/>
          <p:cNvSpPr/>
          <p:nvPr/>
        </p:nvSpPr>
        <p:spPr>
          <a:xfrm>
            <a:off x="812800" y="4156710"/>
            <a:ext cx="1088339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FC8D6"/>
                </a:solidFill>
                <a:latin typeface="IBM Plex Sans" pitchFamily="34" charset="0"/>
                <a:ea typeface="IBM Plex Sans" pitchFamily="34" charset="-122"/>
                <a:cs typeface="IBM Plex Sans" pitchFamily="34" charset="-120"/>
              </a:rPr>
              <a:t>Trois façons de faire communiquer des microservices Python dans Docker</a:t>
            </a:r>
            <a:endParaRPr lang="en-US" sz="2200" dirty="0"/>
          </a:p>
        </p:txBody>
      </p:sp>
      <p:sp>
        <p:nvSpPr>
          <p:cNvPr id="5" name="Text 3"/>
          <p:cNvSpPr/>
          <p:nvPr/>
        </p:nvSpPr>
        <p:spPr>
          <a:xfrm>
            <a:off x="812800" y="5760720"/>
            <a:ext cx="1399413"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4EF"/>
                </a:solidFill>
                <a:latin typeface="IBM Plex Sans" pitchFamily="34" charset="0"/>
                <a:ea typeface="IBM Plex Sans" pitchFamily="34" charset="-122"/>
                <a:cs typeface="IBM Plex Sans" pitchFamily="34" charset="-120"/>
              </a:rPr>
              <a:t>Asma Yazidi</a:t>
            </a:r>
            <a:endParaRPr lang="en-US" sz="1600" dirty="0"/>
          </a:p>
        </p:txBody>
      </p:sp>
      <p:sp>
        <p:nvSpPr>
          <p:cNvPr id="6" name="Text 4"/>
          <p:cNvSpPr/>
          <p:nvPr/>
        </p:nvSpPr>
        <p:spPr>
          <a:xfrm>
            <a:off x="2385377" y="5760720"/>
            <a:ext cx="2057305"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4EF"/>
                </a:solidFill>
                <a:latin typeface="IBM Plex Sans" pitchFamily="34" charset="0"/>
                <a:ea typeface="IBM Plex Sans" pitchFamily="34" charset="-122"/>
                <a:cs typeface="IBM Plex Sans" pitchFamily="34" charset="-120"/>
              </a:rPr>
              <a:t>Emma Dos Santos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OBJECTIF</a:t>
            </a:r>
            <a:endParaRPr lang="en-US" sz="1400" dirty="0"/>
          </a:p>
        </p:txBody>
      </p:sp>
      <p:sp>
        <p:nvSpPr>
          <p:cNvPr id="3" name="Text 1"/>
          <p:cNvSpPr>
            <a:spLocks noGrp="1"/>
          </p:cNvSpPr>
          <p:nvPr>
            <p:ph type="title"/>
          </p:nvPr>
        </p:nvSpPr>
        <p:spPr>
          <a:xfrm>
            <a:off x="812800" y="116332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Une même application, trois architectures</a:t>
            </a:r>
            <a:endParaRPr lang="en-US" sz="3600" dirty="0"/>
          </a:p>
        </p:txBody>
      </p:sp>
      <p:sp>
        <p:nvSpPr>
          <p:cNvPr id="4" name="Shape 2"/>
          <p:cNvSpPr/>
          <p:nvPr/>
        </p:nvSpPr>
        <p:spPr>
          <a:xfrm>
            <a:off x="819150" y="2028190"/>
            <a:ext cx="3373914" cy="3807460"/>
          </a:xfrm>
          <a:prstGeom prst="roundRect">
            <a:avLst>
              <a:gd name="adj" fmla="val 2823"/>
            </a:avLst>
          </a:prstGeom>
          <a:solidFill>
            <a:srgbClr val="FDFCF9"/>
          </a:solidFill>
          <a:ln w="12700">
            <a:solidFill>
              <a:srgbClr val="D9D4C7"/>
            </a:solidFill>
            <a:prstDash val="solid"/>
          </a:ln>
        </p:spPr>
      </p:sp>
      <p:sp>
        <p:nvSpPr>
          <p:cNvPr id="5" name="Text 3"/>
          <p:cNvSpPr/>
          <p:nvPr/>
        </p:nvSpPr>
        <p:spPr>
          <a:xfrm>
            <a:off x="1076960" y="2336800"/>
            <a:ext cx="2944043"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501F"/>
                </a:solidFill>
                <a:latin typeface="JetBrains Mono" pitchFamily="49" charset="0"/>
                <a:ea typeface="JetBrains Mono" pitchFamily="49" charset="-122"/>
                <a:cs typeface="JetBrains Mono" pitchFamily="49" charset="-120"/>
              </a:rPr>
              <a:t>TP1</a:t>
            </a:r>
            <a:endParaRPr lang="en-US" sz="1600" dirty="0"/>
          </a:p>
        </p:txBody>
      </p:sp>
      <p:sp>
        <p:nvSpPr>
          <p:cNvPr id="6" name="Text 4"/>
          <p:cNvSpPr/>
          <p:nvPr/>
        </p:nvSpPr>
        <p:spPr>
          <a:xfrm>
            <a:off x="1076960" y="2748280"/>
            <a:ext cx="2944043" cy="34671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213D"/>
                </a:solidFill>
                <a:latin typeface="IBM Plex Sans" pitchFamily="34" charset="0"/>
                <a:ea typeface="IBM Plex Sans" pitchFamily="34" charset="-122"/>
                <a:cs typeface="IBM Plex Sans" pitchFamily="34" charset="-120"/>
              </a:rPr>
              <a:t>API REST</a:t>
            </a:r>
            <a:endParaRPr lang="en-US" sz="2200" dirty="0"/>
          </a:p>
        </p:txBody>
      </p:sp>
      <p:sp>
        <p:nvSpPr>
          <p:cNvPr id="7" name="Text 5"/>
          <p:cNvSpPr/>
          <p:nvPr/>
        </p:nvSpPr>
        <p:spPr>
          <a:xfrm>
            <a:off x="1076960" y="3196590"/>
            <a:ext cx="294404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commandes appelle clients en HTTP et attend sa réponse.</a:t>
            </a:r>
            <a:endParaRPr lang="en-US" sz="1500" dirty="0"/>
          </a:p>
        </p:txBody>
      </p:sp>
      <p:sp>
        <p:nvSpPr>
          <p:cNvPr id="8" name="Text 6"/>
          <p:cNvSpPr/>
          <p:nvPr/>
        </p:nvSpPr>
        <p:spPr>
          <a:xfrm>
            <a:off x="1076960" y="3856990"/>
            <a:ext cx="294404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6690"/>
                </a:solidFill>
                <a:latin typeface="IBM Plex Sans" pitchFamily="34" charset="0"/>
                <a:ea typeface="IBM Plex Sans" pitchFamily="34" charset="-122"/>
                <a:cs typeface="IBM Plex Sans" pitchFamily="34" charset="-120"/>
              </a:rPr>
              <a:t>Synchrone</a:t>
            </a:r>
            <a:endParaRPr lang="en-US" sz="1400" dirty="0"/>
          </a:p>
        </p:txBody>
      </p:sp>
      <p:sp>
        <p:nvSpPr>
          <p:cNvPr id="9" name="Shape 7"/>
          <p:cNvSpPr/>
          <p:nvPr/>
        </p:nvSpPr>
        <p:spPr>
          <a:xfrm>
            <a:off x="4408964" y="2028190"/>
            <a:ext cx="3373993" cy="3807460"/>
          </a:xfrm>
          <a:prstGeom prst="roundRect">
            <a:avLst>
              <a:gd name="adj" fmla="val 2823"/>
            </a:avLst>
          </a:prstGeom>
          <a:solidFill>
            <a:srgbClr val="FDFCF9"/>
          </a:solidFill>
          <a:ln w="12700">
            <a:solidFill>
              <a:srgbClr val="D9D4C7"/>
            </a:solidFill>
            <a:prstDash val="solid"/>
          </a:ln>
        </p:spPr>
      </p:sp>
      <p:sp>
        <p:nvSpPr>
          <p:cNvPr id="10" name="Text 8"/>
          <p:cNvSpPr/>
          <p:nvPr/>
        </p:nvSpPr>
        <p:spPr>
          <a:xfrm>
            <a:off x="4666774" y="2336800"/>
            <a:ext cx="294412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501F"/>
                </a:solidFill>
                <a:latin typeface="JetBrains Mono" pitchFamily="49" charset="0"/>
                <a:ea typeface="JetBrains Mono" pitchFamily="49" charset="-122"/>
                <a:cs typeface="JetBrains Mono" pitchFamily="49" charset="-120"/>
              </a:rPr>
              <a:t>TP2</a:t>
            </a:r>
            <a:endParaRPr lang="en-US" sz="1600" dirty="0"/>
          </a:p>
        </p:txBody>
      </p:sp>
      <p:sp>
        <p:nvSpPr>
          <p:cNvPr id="11" name="Text 9"/>
          <p:cNvSpPr/>
          <p:nvPr/>
        </p:nvSpPr>
        <p:spPr>
          <a:xfrm>
            <a:off x="4666774" y="2748280"/>
            <a:ext cx="2944124" cy="34671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213D"/>
                </a:solidFill>
                <a:latin typeface="IBM Plex Sans" pitchFamily="34" charset="0"/>
                <a:ea typeface="IBM Plex Sans" pitchFamily="34" charset="-122"/>
                <a:cs typeface="IBM Plex Sans" pitchFamily="34" charset="-120"/>
              </a:rPr>
              <a:t>Kafka</a:t>
            </a:r>
            <a:endParaRPr lang="en-US" sz="2200" dirty="0"/>
          </a:p>
        </p:txBody>
      </p:sp>
      <p:sp>
        <p:nvSpPr>
          <p:cNvPr id="12" name="Text 10"/>
          <p:cNvSpPr/>
          <p:nvPr/>
        </p:nvSpPr>
        <p:spPr>
          <a:xfrm>
            <a:off x="4666774" y="3196590"/>
            <a:ext cx="294412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commandes publie des événements, les autres services les lisent.</a:t>
            </a:r>
            <a:endParaRPr lang="en-US" sz="1500" dirty="0"/>
          </a:p>
        </p:txBody>
      </p:sp>
      <p:sp>
        <p:nvSpPr>
          <p:cNvPr id="13" name="Text 11"/>
          <p:cNvSpPr/>
          <p:nvPr/>
        </p:nvSpPr>
        <p:spPr>
          <a:xfrm>
            <a:off x="4666774" y="4123690"/>
            <a:ext cx="294412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6690"/>
                </a:solidFill>
                <a:latin typeface="IBM Plex Sans" pitchFamily="34" charset="0"/>
                <a:ea typeface="IBM Plex Sans" pitchFamily="34" charset="-122"/>
                <a:cs typeface="IBM Plex Sans" pitchFamily="34" charset="-120"/>
              </a:rPr>
              <a:t>Asynchrone</a:t>
            </a:r>
            <a:endParaRPr lang="en-US" sz="1400" dirty="0"/>
          </a:p>
        </p:txBody>
      </p:sp>
      <p:sp>
        <p:nvSpPr>
          <p:cNvPr id="14" name="Shape 12"/>
          <p:cNvSpPr/>
          <p:nvPr/>
        </p:nvSpPr>
        <p:spPr>
          <a:xfrm>
            <a:off x="7998857" y="2028190"/>
            <a:ext cx="3373993" cy="3807460"/>
          </a:xfrm>
          <a:prstGeom prst="roundRect">
            <a:avLst>
              <a:gd name="adj" fmla="val 2823"/>
            </a:avLst>
          </a:prstGeom>
          <a:solidFill>
            <a:srgbClr val="FDFCF9"/>
          </a:solidFill>
          <a:ln w="12700">
            <a:solidFill>
              <a:srgbClr val="D9D4C7"/>
            </a:solidFill>
            <a:prstDash val="solid"/>
          </a:ln>
        </p:spPr>
      </p:sp>
      <p:sp>
        <p:nvSpPr>
          <p:cNvPr id="15" name="Text 13"/>
          <p:cNvSpPr/>
          <p:nvPr/>
        </p:nvSpPr>
        <p:spPr>
          <a:xfrm>
            <a:off x="8256667" y="2336800"/>
            <a:ext cx="294412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501F"/>
                </a:solidFill>
                <a:latin typeface="JetBrains Mono" pitchFamily="49" charset="0"/>
                <a:ea typeface="JetBrains Mono" pitchFamily="49" charset="-122"/>
                <a:cs typeface="JetBrains Mono" pitchFamily="49" charset="-120"/>
              </a:rPr>
              <a:t>TP3</a:t>
            </a:r>
            <a:endParaRPr lang="en-US" sz="1600" dirty="0"/>
          </a:p>
        </p:txBody>
      </p:sp>
      <p:sp>
        <p:nvSpPr>
          <p:cNvPr id="16" name="Text 14"/>
          <p:cNvSpPr/>
          <p:nvPr/>
        </p:nvSpPr>
        <p:spPr>
          <a:xfrm>
            <a:off x="8256667" y="2748280"/>
            <a:ext cx="2944124" cy="34671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213D"/>
                </a:solidFill>
                <a:latin typeface="IBM Plex Sans" pitchFamily="34" charset="0"/>
                <a:ea typeface="IBM Plex Sans" pitchFamily="34" charset="-122"/>
                <a:cs typeface="IBM Plex Sans" pitchFamily="34" charset="-120"/>
              </a:rPr>
              <a:t>Prédiction ML</a:t>
            </a:r>
            <a:endParaRPr lang="en-US" sz="2200" dirty="0"/>
          </a:p>
        </p:txBody>
      </p:sp>
      <p:sp>
        <p:nvSpPr>
          <p:cNvPr id="17" name="Text 15"/>
          <p:cNvSpPr/>
          <p:nvPr/>
        </p:nvSpPr>
        <p:spPr>
          <a:xfrm>
            <a:off x="8256667" y="3196590"/>
            <a:ext cx="294412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Un service charge un modèle et répond aux demandes via Kafka.</a:t>
            </a:r>
            <a:endParaRPr lang="en-US" sz="1500" dirty="0"/>
          </a:p>
        </p:txBody>
      </p:sp>
      <p:sp>
        <p:nvSpPr>
          <p:cNvPr id="18" name="Text 16"/>
          <p:cNvSpPr/>
          <p:nvPr/>
        </p:nvSpPr>
        <p:spPr>
          <a:xfrm>
            <a:off x="8256667" y="3856990"/>
            <a:ext cx="294412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6690"/>
                </a:solidFill>
                <a:latin typeface="IBM Plex Sans" pitchFamily="34" charset="0"/>
                <a:ea typeface="IBM Plex Sans" pitchFamily="34" charset="-122"/>
                <a:cs typeface="IBM Plex Sans" pitchFamily="34" charset="-120"/>
              </a:rPr>
              <a:t>Asynchrone + K instances</a:t>
            </a:r>
            <a:endParaRPr lang="en-US" sz="1400" dirty="0"/>
          </a:p>
        </p:txBody>
      </p:sp>
      <p:sp>
        <p:nvSpPr>
          <p:cNvPr id="19" name="Text 17"/>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Python, Flask, Docker, Kafka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4175673" y="2540000"/>
            <a:ext cx="3840575" cy="1803400"/>
          </a:xfrm>
          <a:prstGeom prst="rect">
            <a:avLst/>
          </a:prstGeom>
          <a:noFill/>
          <a:ln/>
        </p:spPr>
        <p:txBody>
          <a:bodyPr wrap="square" lIns="0" tIns="0" rIns="0" bIns="0" rtlCol="0" anchor="t">
            <a:normAutofit/>
          </a:bodyPr>
          <a:lstStyle/>
          <a:p>
            <a:pPr marL="0" indent="0" algn="ctr">
              <a:lnSpc>
                <a:spcPts val="14000"/>
              </a:lnSpc>
              <a:buNone/>
            </a:pPr>
            <a:r>
              <a:rPr lang="en-US" sz="14000" b="1" i="0" dirty="0">
                <a:solidFill>
                  <a:srgbClr val="F2A65A"/>
                </a:solidFill>
                <a:latin typeface="JetBrains Mono" pitchFamily="49" charset="0"/>
                <a:ea typeface="JetBrains Mono" pitchFamily="49" charset="-122"/>
                <a:cs typeface="JetBrains Mono" pitchFamily="49" charset="-120"/>
              </a:rPr>
              <a:t>TP1</a:t>
            </a:r>
            <a:endParaRPr lang="en-US" sz="1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TP1 · API REST</a:t>
            </a:r>
            <a:endParaRPr lang="en-US" sz="1400" dirty="0"/>
          </a:p>
        </p:txBody>
      </p:sp>
      <p:sp>
        <p:nvSpPr>
          <p:cNvPr id="3" name="Text 1"/>
          <p:cNvSpPr>
            <a:spLocks noGrp="1"/>
          </p:cNvSpPr>
          <p:nvPr>
            <p:ph type="title"/>
          </p:nvPr>
        </p:nvSpPr>
        <p:spPr>
          <a:xfrm>
            <a:off x="812800" y="116332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commandes appelle clients et attend</a:t>
            </a:r>
            <a:endParaRPr lang="en-US" sz="3600" dirty="0"/>
          </a:p>
        </p:txBody>
      </p:sp>
      <p:sp>
        <p:nvSpPr>
          <p:cNvPr id="4" name="Shape 2"/>
          <p:cNvSpPr/>
          <p:nvPr/>
        </p:nvSpPr>
        <p:spPr>
          <a:xfrm>
            <a:off x="812800" y="2106930"/>
            <a:ext cx="1905000" cy="1094740"/>
          </a:xfrm>
          <a:prstGeom prst="roundRect">
            <a:avLst>
              <a:gd name="adj" fmla="val 9281"/>
            </a:avLst>
          </a:prstGeom>
          <a:solidFill>
            <a:srgbClr val="E8E4D9"/>
          </a:solidFill>
          <a:ln/>
        </p:spPr>
      </p:sp>
      <p:sp>
        <p:nvSpPr>
          <p:cNvPr id="5" name="Text 3"/>
          <p:cNvSpPr/>
          <p:nvPr/>
        </p:nvSpPr>
        <p:spPr>
          <a:xfrm>
            <a:off x="1016000" y="2360930"/>
            <a:ext cx="15494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Utilisateur</a:t>
            </a:r>
            <a:endParaRPr lang="en-US" sz="2000" dirty="0"/>
          </a:p>
        </p:txBody>
      </p:sp>
      <p:sp>
        <p:nvSpPr>
          <p:cNvPr id="6" name="Text 4"/>
          <p:cNvSpPr/>
          <p:nvPr/>
        </p:nvSpPr>
        <p:spPr>
          <a:xfrm>
            <a:off x="1016000" y="2716530"/>
            <a:ext cx="15494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curl</a:t>
            </a:r>
            <a:endParaRPr lang="en-US" sz="1300" dirty="0"/>
          </a:p>
        </p:txBody>
      </p:sp>
      <p:sp>
        <p:nvSpPr>
          <p:cNvPr id="7" name="Text 5"/>
          <p:cNvSpPr/>
          <p:nvPr/>
        </p:nvSpPr>
        <p:spPr>
          <a:xfrm>
            <a:off x="2798826" y="2357120"/>
            <a:ext cx="1755648"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GET /commandes/1</a:t>
            </a:r>
            <a:endParaRPr lang="en-US" sz="1200" dirty="0"/>
          </a:p>
        </p:txBody>
      </p:sp>
      <p:pic>
        <p:nvPicPr>
          <p:cNvPr id="8" name="Image 0" descr="arrow-right"/>
          <p:cNvPicPr>
            <a:picLocks noChangeAspect="1"/>
          </p:cNvPicPr>
          <p:nvPr/>
        </p:nvPicPr>
        <p:blipFill>
          <a:blip r:embed="rId3"/>
          <a:srcRect/>
          <a:stretch/>
        </p:blipFill>
        <p:spPr>
          <a:xfrm>
            <a:off x="3295650" y="2646680"/>
            <a:ext cx="762000" cy="304800"/>
          </a:xfrm>
          <a:prstGeom prst="rect">
            <a:avLst/>
          </a:prstGeom>
        </p:spPr>
      </p:pic>
      <p:sp>
        <p:nvSpPr>
          <p:cNvPr id="9" name="Shape 6"/>
          <p:cNvSpPr/>
          <p:nvPr/>
        </p:nvSpPr>
        <p:spPr>
          <a:xfrm>
            <a:off x="4635500" y="2106930"/>
            <a:ext cx="2413000" cy="1094740"/>
          </a:xfrm>
          <a:prstGeom prst="roundRect">
            <a:avLst>
              <a:gd name="adj" fmla="val 9281"/>
            </a:avLst>
          </a:prstGeom>
          <a:solidFill>
            <a:srgbClr val="14213D"/>
          </a:solidFill>
          <a:ln/>
        </p:spPr>
      </p:sp>
      <p:sp>
        <p:nvSpPr>
          <p:cNvPr id="10" name="Text 7"/>
          <p:cNvSpPr/>
          <p:nvPr/>
        </p:nvSpPr>
        <p:spPr>
          <a:xfrm>
            <a:off x="4838700" y="2360930"/>
            <a:ext cx="206679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F"/>
                </a:solidFill>
                <a:latin typeface="IBM Plex Sans" pitchFamily="34" charset="0"/>
                <a:ea typeface="IBM Plex Sans" pitchFamily="34" charset="-122"/>
                <a:cs typeface="IBM Plex Sans" pitchFamily="34" charset="-120"/>
              </a:rPr>
              <a:t>commandes</a:t>
            </a:r>
            <a:endParaRPr lang="en-US" sz="2000" dirty="0"/>
          </a:p>
        </p:txBody>
      </p:sp>
      <p:sp>
        <p:nvSpPr>
          <p:cNvPr id="11" name="Text 8"/>
          <p:cNvSpPr/>
          <p:nvPr/>
        </p:nvSpPr>
        <p:spPr>
          <a:xfrm>
            <a:off x="4838700" y="2716530"/>
            <a:ext cx="206679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65A"/>
                </a:solidFill>
                <a:latin typeface="JetBrains Mono" pitchFamily="49" charset="0"/>
                <a:ea typeface="JetBrains Mono" pitchFamily="49" charset="-122"/>
                <a:cs typeface="JetBrains Mono" pitchFamily="49" charset="-120"/>
              </a:rPr>
              <a:t>port 8081</a:t>
            </a:r>
            <a:endParaRPr lang="en-US" sz="1300" dirty="0"/>
          </a:p>
        </p:txBody>
      </p:sp>
      <p:sp>
        <p:nvSpPr>
          <p:cNvPr id="12" name="Text 9"/>
          <p:cNvSpPr/>
          <p:nvPr/>
        </p:nvSpPr>
        <p:spPr>
          <a:xfrm>
            <a:off x="7239254" y="2021841"/>
            <a:ext cx="1536192"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GET /clients/1</a:t>
            </a:r>
            <a:endParaRPr lang="en-US" sz="1200" dirty="0"/>
          </a:p>
        </p:txBody>
      </p:sp>
      <p:pic>
        <p:nvPicPr>
          <p:cNvPr id="13" name="Image 1" descr="arrow-right"/>
          <p:cNvPicPr>
            <a:picLocks noChangeAspect="1"/>
          </p:cNvPicPr>
          <p:nvPr/>
        </p:nvPicPr>
        <p:blipFill>
          <a:blip r:embed="rId4"/>
          <a:srcRect/>
          <a:stretch/>
        </p:blipFill>
        <p:spPr>
          <a:xfrm>
            <a:off x="7626350" y="2311400"/>
            <a:ext cx="762000" cy="304800"/>
          </a:xfrm>
          <a:prstGeom prst="rect">
            <a:avLst/>
          </a:prstGeom>
        </p:spPr>
      </p:pic>
      <p:pic>
        <p:nvPicPr>
          <p:cNvPr id="14" name="Image 2" descr="arrow-left"/>
          <p:cNvPicPr>
            <a:picLocks noChangeAspect="1"/>
          </p:cNvPicPr>
          <p:nvPr/>
        </p:nvPicPr>
        <p:blipFill>
          <a:blip r:embed="rId5"/>
          <a:srcRect/>
          <a:stretch/>
        </p:blipFill>
        <p:spPr>
          <a:xfrm>
            <a:off x="7626350" y="2692400"/>
            <a:ext cx="762000" cy="304800"/>
          </a:xfrm>
          <a:prstGeom prst="rect">
            <a:avLst/>
          </a:prstGeom>
        </p:spPr>
      </p:pic>
      <p:sp>
        <p:nvSpPr>
          <p:cNvPr id="15" name="Text 10"/>
          <p:cNvSpPr/>
          <p:nvPr/>
        </p:nvSpPr>
        <p:spPr>
          <a:xfrm>
            <a:off x="7431381" y="3073400"/>
            <a:ext cx="1151858"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infos du client</a:t>
            </a:r>
            <a:endParaRPr lang="en-US" sz="1200" dirty="0"/>
          </a:p>
        </p:txBody>
      </p:sp>
      <p:sp>
        <p:nvSpPr>
          <p:cNvPr id="16" name="Shape 11"/>
          <p:cNvSpPr/>
          <p:nvPr/>
        </p:nvSpPr>
        <p:spPr>
          <a:xfrm>
            <a:off x="8966200" y="2106930"/>
            <a:ext cx="2413000" cy="1094740"/>
          </a:xfrm>
          <a:prstGeom prst="roundRect">
            <a:avLst>
              <a:gd name="adj" fmla="val 9281"/>
            </a:avLst>
          </a:prstGeom>
          <a:solidFill>
            <a:srgbClr val="14213D"/>
          </a:solidFill>
          <a:ln/>
        </p:spPr>
      </p:sp>
      <p:sp>
        <p:nvSpPr>
          <p:cNvPr id="17" name="Text 12"/>
          <p:cNvSpPr/>
          <p:nvPr/>
        </p:nvSpPr>
        <p:spPr>
          <a:xfrm>
            <a:off x="9169400" y="2360930"/>
            <a:ext cx="206679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F"/>
                </a:solidFill>
                <a:latin typeface="IBM Plex Sans" pitchFamily="34" charset="0"/>
                <a:ea typeface="IBM Plex Sans" pitchFamily="34" charset="-122"/>
                <a:cs typeface="IBM Plex Sans" pitchFamily="34" charset="-120"/>
              </a:rPr>
              <a:t>clients</a:t>
            </a:r>
            <a:endParaRPr lang="en-US" sz="2000" dirty="0"/>
          </a:p>
        </p:txBody>
      </p:sp>
      <p:sp>
        <p:nvSpPr>
          <p:cNvPr id="18" name="Text 13"/>
          <p:cNvSpPr/>
          <p:nvPr/>
        </p:nvSpPr>
        <p:spPr>
          <a:xfrm>
            <a:off x="9169400" y="2716530"/>
            <a:ext cx="206679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65A"/>
                </a:solidFill>
                <a:latin typeface="JetBrains Mono" pitchFamily="49" charset="0"/>
                <a:ea typeface="JetBrains Mono" pitchFamily="49" charset="-122"/>
                <a:cs typeface="JetBrains Mono" pitchFamily="49" charset="-120"/>
              </a:rPr>
              <a:t>port 8080</a:t>
            </a:r>
            <a:endParaRPr lang="en-US" sz="1300" dirty="0"/>
          </a:p>
        </p:txBody>
      </p:sp>
      <p:sp>
        <p:nvSpPr>
          <p:cNvPr id="19" name="Shape 14"/>
          <p:cNvSpPr/>
          <p:nvPr/>
        </p:nvSpPr>
        <p:spPr>
          <a:xfrm>
            <a:off x="812800" y="3655061"/>
            <a:ext cx="3386614" cy="0"/>
          </a:xfrm>
          <a:prstGeom prst="line">
            <a:avLst/>
          </a:prstGeom>
          <a:noFill/>
          <a:ln w="25400">
            <a:solidFill>
              <a:srgbClr val="B5501F"/>
            </a:solidFill>
            <a:prstDash val="solid"/>
          </a:ln>
        </p:spPr>
      </p:sp>
      <p:sp>
        <p:nvSpPr>
          <p:cNvPr id="20" name="Text 15"/>
          <p:cNvSpPr/>
          <p:nvPr/>
        </p:nvSpPr>
        <p:spPr>
          <a:xfrm>
            <a:off x="812800" y="3820161"/>
            <a:ext cx="34882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Réseau Docker tp-net</a:t>
            </a:r>
            <a:endParaRPr lang="en-US" sz="1600" dirty="0"/>
          </a:p>
        </p:txBody>
      </p:sp>
      <p:sp>
        <p:nvSpPr>
          <p:cNvPr id="21" name="Text 16"/>
          <p:cNvSpPr/>
          <p:nvPr/>
        </p:nvSpPr>
        <p:spPr>
          <a:xfrm>
            <a:off x="812800" y="4140200"/>
            <a:ext cx="348821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Les conteneurs se trouvent par leur nom.</a:t>
            </a:r>
            <a:endParaRPr lang="en-US" sz="1400" dirty="0"/>
          </a:p>
        </p:txBody>
      </p:sp>
      <p:sp>
        <p:nvSpPr>
          <p:cNvPr id="22" name="Shape 17"/>
          <p:cNvSpPr/>
          <p:nvPr/>
        </p:nvSpPr>
        <p:spPr>
          <a:xfrm>
            <a:off x="4402614" y="3655061"/>
            <a:ext cx="3386693" cy="0"/>
          </a:xfrm>
          <a:prstGeom prst="line">
            <a:avLst/>
          </a:prstGeom>
          <a:noFill/>
          <a:ln w="25400">
            <a:solidFill>
              <a:srgbClr val="B5501F"/>
            </a:solidFill>
            <a:prstDash val="solid"/>
          </a:ln>
        </p:spPr>
      </p:sp>
      <p:sp>
        <p:nvSpPr>
          <p:cNvPr id="23" name="Text 18"/>
          <p:cNvSpPr/>
          <p:nvPr/>
        </p:nvSpPr>
        <p:spPr>
          <a:xfrm>
            <a:off x="4402614" y="3820161"/>
            <a:ext cx="34882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http://clients:8080</a:t>
            </a:r>
            <a:endParaRPr lang="en-US" sz="1600" dirty="0"/>
          </a:p>
        </p:txBody>
      </p:sp>
      <p:sp>
        <p:nvSpPr>
          <p:cNvPr id="24" name="Text 19"/>
          <p:cNvSpPr/>
          <p:nvPr/>
        </p:nvSpPr>
        <p:spPr>
          <a:xfrm>
            <a:off x="4402614" y="4140200"/>
            <a:ext cx="348829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Pas localhost : dans un conteneur, il désigne le conteneur lui-même.</a:t>
            </a:r>
            <a:endParaRPr lang="en-US" sz="1400" dirty="0"/>
          </a:p>
        </p:txBody>
      </p:sp>
      <p:sp>
        <p:nvSpPr>
          <p:cNvPr id="25" name="Shape 20"/>
          <p:cNvSpPr/>
          <p:nvPr/>
        </p:nvSpPr>
        <p:spPr>
          <a:xfrm>
            <a:off x="7992507" y="3655061"/>
            <a:ext cx="3386693" cy="0"/>
          </a:xfrm>
          <a:prstGeom prst="line">
            <a:avLst/>
          </a:prstGeom>
          <a:noFill/>
          <a:ln w="25400">
            <a:solidFill>
              <a:srgbClr val="B5501F"/>
            </a:solidFill>
            <a:prstDash val="solid"/>
          </a:ln>
        </p:spPr>
      </p:sp>
      <p:sp>
        <p:nvSpPr>
          <p:cNvPr id="26" name="Text 21"/>
          <p:cNvSpPr/>
          <p:nvPr/>
        </p:nvSpPr>
        <p:spPr>
          <a:xfrm>
            <a:off x="7992507" y="3820161"/>
            <a:ext cx="34882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Ports 8080 / 8081</a:t>
            </a:r>
            <a:endParaRPr lang="en-US" sz="1600" dirty="0"/>
          </a:p>
        </p:txBody>
      </p:sp>
      <p:sp>
        <p:nvSpPr>
          <p:cNvPr id="27" name="Text 22"/>
          <p:cNvSpPr/>
          <p:nvPr/>
        </p:nvSpPr>
        <p:spPr>
          <a:xfrm>
            <a:off x="7992507" y="4140200"/>
            <a:ext cx="348829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Même port interne, ports différents sur la machine.</a:t>
            </a:r>
            <a:endParaRPr lang="en-US" sz="1400" dirty="0"/>
          </a:p>
        </p:txBody>
      </p:sp>
      <p:sp>
        <p:nvSpPr>
          <p:cNvPr id="28" name="Text 23"/>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TP1 API REST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TP1 · GESTION DES ERREURS</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Si clients tombe, commandes ne répond plus</a:t>
            </a:r>
            <a:endParaRPr lang="en-US" sz="3600" dirty="0"/>
          </a:p>
        </p:txBody>
      </p:sp>
      <p:sp>
        <p:nvSpPr>
          <p:cNvPr id="4" name="Shape 2"/>
          <p:cNvSpPr/>
          <p:nvPr/>
        </p:nvSpPr>
        <p:spPr>
          <a:xfrm>
            <a:off x="812800" y="1976119"/>
            <a:ext cx="10566400" cy="0"/>
          </a:xfrm>
          <a:prstGeom prst="line">
            <a:avLst/>
          </a:prstGeom>
          <a:noFill/>
          <a:ln w="10160">
            <a:solidFill>
              <a:srgbClr val="141413">
                <a:alpha val="22000"/>
              </a:srgbClr>
            </a:solidFill>
            <a:prstDash val="solid"/>
          </a:ln>
        </p:spPr>
      </p:sp>
      <p:sp>
        <p:nvSpPr>
          <p:cNvPr id="5" name="Shape 3"/>
          <p:cNvSpPr/>
          <p:nvPr/>
        </p:nvSpPr>
        <p:spPr>
          <a:xfrm>
            <a:off x="817880" y="1971039"/>
            <a:ext cx="0" cy="185420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5360" y="2082799"/>
          <a:ext cx="10251440" cy="1640840"/>
        </p:xfrm>
        <a:graphic>
          <a:graphicData uri="http://schemas.openxmlformats.org/drawingml/2006/table">
            <a:tbl>
              <a:tblPr/>
              <a:tblGrid>
                <a:gridCol w="3895547">
                  <a:extLst>
                    <a:ext uri="{9D8B030D-6E8A-4147-A177-3AD203B41FA5}">
                      <a16:colId xmlns:a16="http://schemas.microsoft.com/office/drawing/2014/main" val="20000"/>
                    </a:ext>
                  </a:extLst>
                </a:gridCol>
                <a:gridCol w="2255317">
                  <a:extLst>
                    <a:ext uri="{9D8B030D-6E8A-4147-A177-3AD203B41FA5}">
                      <a16:colId xmlns:a16="http://schemas.microsoft.com/office/drawing/2014/main" val="20001"/>
                    </a:ext>
                  </a:extLst>
                </a:gridCol>
                <a:gridCol w="4100576">
                  <a:extLst>
                    <a:ext uri="{9D8B030D-6E8A-4147-A177-3AD203B41FA5}">
                      <a16:colId xmlns:a16="http://schemas.microsoft.com/office/drawing/2014/main" val="20002"/>
                    </a:ext>
                  </a:extLst>
                </a:gridCol>
              </a:tblGrid>
              <a:tr h="410210">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Cas testé</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Code HTTP</a:t>
                      </a:r>
                      <a:endParaRPr lang="en-US" sz="1500" dirty="0">
                        <a:latin typeface="IBM Plex Sans" charset="0"/>
                        <a:ea typeface="IBM Plex Sans" charset="0"/>
                        <a:cs typeface="IBM Plex Sans"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Réponse</a:t>
                      </a:r>
                      <a:endParaRPr lang="en-US" sz="1500" dirty="0">
                        <a:latin typeface="IBM Plex Sans" charset="0"/>
                        <a:ea typeface="IBM Plex Sans" charset="0"/>
                        <a:cs typeface="IBM Plex Sans"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Client inexistant</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404</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Client introuvable</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Commande inexistante</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404</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Commande introuvable</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docker stop clients</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2B0A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2B0A3"/>
                      </a:solidFill>
                      <a:prstDash val="solid"/>
                      <a:round/>
                      <a:headEnd type="none" w="med" len="med"/>
                      <a:tailEnd type="none" w="med" len="med"/>
                    </a:lnB>
                    <a:solidFill>
                      <a:srgbClr val="F3DCCB"/>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503</a:t>
                      </a:r>
                      <a:endParaRPr lang="en-US" sz="1500" dirty="0">
                        <a:latin typeface="IBM Plex Sans" charset="0"/>
                        <a:ea typeface="IBM Plex Sans" charset="0"/>
                        <a:cs typeface="IBM Plex Sans" charset="0"/>
                      </a:endParaRPr>
                    </a:p>
                  </a:txBody>
                  <a:tcPr marL="66675" marR="66675" marT="66675" marB="66675">
                    <a:lnL w="12700" cap="flat" cmpd="sng" algn="ctr">
                      <a:solidFill>
                        <a:srgbClr val="C2B0A3"/>
                      </a:solidFill>
                      <a:prstDash val="solid"/>
                      <a:round/>
                      <a:headEnd type="none" w="med" len="med"/>
                      <a:tailEnd type="none" w="med" len="med"/>
                    </a:lnL>
                    <a:lnR w="12700" cap="flat" cmpd="sng" algn="ctr">
                      <a:solidFill>
                        <a:srgbClr val="C2B0A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2B0A3"/>
                      </a:solidFill>
                      <a:prstDash val="solid"/>
                      <a:round/>
                      <a:headEnd type="none" w="med" len="med"/>
                      <a:tailEnd type="none" w="med" len="med"/>
                    </a:lnB>
                    <a:solidFill>
                      <a:srgbClr val="F3DCCB"/>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Service clients indisponible</a:t>
                      </a:r>
                      <a:endParaRPr lang="en-US" sz="1500" dirty="0">
                        <a:latin typeface="IBM Plex Sans" charset="0"/>
                        <a:ea typeface="IBM Plex Sans" charset="0"/>
                        <a:cs typeface="IBM Plex Sans" charset="0"/>
                      </a:endParaRPr>
                    </a:p>
                  </a:txBody>
                  <a:tcPr marL="66675" marR="66675" marT="66675" marB="66675">
                    <a:lnL w="12700" cap="flat" cmpd="sng" algn="ctr">
                      <a:solidFill>
                        <a:srgbClr val="C2B0A3"/>
                      </a:solidFill>
                      <a:prstDash val="solid"/>
                      <a:round/>
                      <a:headEnd type="none" w="med" len="med"/>
                      <a:tailEnd type="none" w="med" len="med"/>
                    </a:lnL>
                    <a:lnR w="12700" cap="flat" cmpd="sng" algn="ctr">
                      <a:solidFill>
                        <a:srgbClr val="C2B0A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2B0A3"/>
                      </a:solidFill>
                      <a:prstDash val="solid"/>
                      <a:round/>
                      <a:headEnd type="none" w="med" len="med"/>
                      <a:tailEnd type="none" w="med" len="med"/>
                    </a:lnB>
                    <a:solidFill>
                      <a:srgbClr val="F3DCCB"/>
                    </a:solidFill>
                  </a:tcPr>
                </a:tc>
                <a:extLst>
                  <a:ext uri="{0D108BD9-81ED-4DB2-BD59-A6C34878D82A}">
                    <a16:rowId xmlns:a16="http://schemas.microsoft.com/office/drawing/2014/main" val="10003"/>
                  </a:ext>
                </a:extLst>
              </a:tr>
            </a:tbl>
          </a:graphicData>
        </a:graphic>
      </p:graphicFrame>
      <p:sp>
        <p:nvSpPr>
          <p:cNvPr id="7" name="Shape 4"/>
          <p:cNvSpPr/>
          <p:nvPr/>
        </p:nvSpPr>
        <p:spPr>
          <a:xfrm>
            <a:off x="812800" y="4130039"/>
            <a:ext cx="10566400" cy="1076960"/>
          </a:xfrm>
          <a:prstGeom prst="roundRect">
            <a:avLst>
              <a:gd name="adj" fmla="val 9434"/>
            </a:avLst>
          </a:prstGeom>
          <a:solidFill>
            <a:srgbClr val="14213D"/>
          </a:solidFill>
          <a:ln/>
        </p:spPr>
      </p:sp>
      <p:sp>
        <p:nvSpPr>
          <p:cNvPr id="8" name="Text 5"/>
          <p:cNvSpPr/>
          <p:nvPr/>
        </p:nvSpPr>
        <p:spPr>
          <a:xfrm>
            <a:off x="1117600" y="4384039"/>
            <a:ext cx="470376" cy="594360"/>
          </a:xfrm>
          <a:prstGeom prst="rect">
            <a:avLst/>
          </a:prstGeom>
          <a:noFill/>
          <a:ln/>
        </p:spPr>
        <p:txBody>
          <a:bodyPr wrap="none" lIns="0" tIns="0" rIns="0" bIns="0" rtlCol="0" anchor="t">
            <a:normAutofit/>
          </a:bodyPr>
          <a:lstStyle/>
          <a:p>
            <a:pPr marL="0" indent="0" algn="l">
              <a:lnSpc>
                <a:spcPts val="4480"/>
              </a:lnSpc>
              <a:buNone/>
            </a:pPr>
            <a:r>
              <a:rPr lang="en-US" sz="3200" b="1" dirty="0">
                <a:solidFill>
                  <a:srgbClr val="F2A65A"/>
                </a:solidFill>
                <a:latin typeface="JetBrains Mono" pitchFamily="49" charset="0"/>
                <a:ea typeface="JetBrains Mono" pitchFamily="49" charset="-122"/>
                <a:cs typeface="JetBrains Mono" pitchFamily="49" charset="-120"/>
              </a:rPr>
              <a:t>503</a:t>
            </a:r>
            <a:endParaRPr lang="en-US" sz="3200" dirty="0"/>
          </a:p>
        </p:txBody>
      </p:sp>
      <p:sp>
        <p:nvSpPr>
          <p:cNvPr id="9" name="Text 6"/>
          <p:cNvSpPr/>
          <p:nvPr/>
        </p:nvSpPr>
        <p:spPr>
          <a:xfrm>
            <a:off x="1791176" y="4384039"/>
            <a:ext cx="9561721"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F"/>
                </a:solidFill>
                <a:latin typeface="IBM Plex Sans" pitchFamily="34" charset="0"/>
                <a:ea typeface="IBM Plex Sans" pitchFamily="34" charset="-122"/>
                <a:cs typeface="IBM Plex Sans" pitchFamily="34" charset="-120"/>
              </a:rPr>
              <a:t>Ce n'est pas commandes qui plante, c'est une dépendance. Le </a:t>
            </a:r>
            <a:r>
              <a:rPr lang="en-US" sz="1600" b="1" dirty="0">
                <a:solidFill>
                  <a:srgbClr val="F6F4EF"/>
                </a:solidFill>
                <a:latin typeface="IBM Plex Sans" pitchFamily="34" charset="0"/>
                <a:ea typeface="IBM Plex Sans" pitchFamily="34" charset="-122"/>
                <a:cs typeface="IBM Plex Sans" pitchFamily="34" charset="-120"/>
              </a:rPr>
              <a:t>timeout de 3 s</a:t>
            </a:r>
            <a:r>
              <a:rPr lang="en-US" sz="1600" dirty="0">
                <a:solidFill>
                  <a:srgbClr val="F6F4EF"/>
                </a:solidFill>
                <a:latin typeface="IBM Plex Sans" pitchFamily="34" charset="0"/>
                <a:ea typeface="IBM Plex Sans" pitchFamily="34" charset="-122"/>
                <a:cs typeface="IBM Plex Sans" pitchFamily="34" charset="-120"/>
              </a:rPr>
              <a:t> évite d'attendre indéfiniment, mais la commande échoue quand même : c'est la limite du synchrone.</a:t>
            </a:r>
            <a:endParaRPr lang="en-US" sz="1600" dirty="0"/>
          </a:p>
        </p:txBody>
      </p:sp>
      <p:sp>
        <p:nvSpPr>
          <p:cNvPr id="10" name="Text 7"/>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TP1 API REST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TP1 API REST</a:t>
            </a:r>
            <a:endParaRPr lang="en-US" sz="1200" dirty="0"/>
          </a:p>
        </p:txBody>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TP1 · RÉSULTATS OBTENUS</a:t>
            </a:r>
            <a:endParaRPr lang="en-US" sz="1400" dirty="0"/>
          </a:p>
        </p:txBody>
      </p:sp>
      <p:sp>
        <p:nvSpPr>
          <p:cNvPr id="4" name="Text 2"/>
          <p:cNvSpPr>
            <a:spLocks noGrp="1"/>
          </p:cNvSpPr>
          <p:nvPr>
            <p:ph type="title"/>
          </p:nvPr>
        </p:nvSpPr>
        <p:spPr>
          <a:xfrm>
            <a:off x="812800" y="116332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Dans le terminal</a:t>
            </a:r>
            <a:endParaRPr lang="en-US" sz="3200" dirty="0"/>
          </a:p>
        </p:txBody>
      </p:sp>
      <p:sp>
        <p:nvSpPr>
          <p:cNvPr id="5" name="Shape 3"/>
          <p:cNvSpPr/>
          <p:nvPr/>
        </p:nvSpPr>
        <p:spPr>
          <a:xfrm>
            <a:off x="533559" y="1917700"/>
            <a:ext cx="6273562" cy="1460500"/>
          </a:xfrm>
          <a:prstGeom prst="roundRect">
            <a:avLst>
              <a:gd name="adj" fmla="val 5217"/>
            </a:avLst>
          </a:prstGeom>
          <a:solidFill>
            <a:srgbClr val="0C0C0C"/>
          </a:solidFill>
          <a:ln/>
        </p:spPr>
      </p:sp>
      <p:pic>
        <p:nvPicPr>
          <p:cNvPr id="6" name="Image 0" descr="docker ps avec les conteneurs clients et commandes, puis curl sur commandes/1 qui renvoie la commande avec Alice"/>
          <p:cNvPicPr>
            <a:picLocks noChangeAspect="1"/>
          </p:cNvPicPr>
          <p:nvPr/>
        </p:nvPicPr>
        <p:blipFill>
          <a:blip r:embed="rId3"/>
          <a:stretch>
            <a:fillRect/>
          </a:stretch>
        </p:blipFill>
        <p:spPr>
          <a:xfrm>
            <a:off x="533559" y="1950888"/>
            <a:ext cx="6273562" cy="1394125"/>
          </a:xfrm>
          <a:custGeom>
            <a:avLst/>
            <a:gdLst/>
            <a:ahLst/>
            <a:cxnLst/>
            <a:rect l="l" t="t" r="r" b="b"/>
            <a:pathLst>
              <a:path w="6273562" h="1394125">
                <a:moveTo>
                  <a:pt x="0" y="43012"/>
                </a:moveTo>
                <a:arcTo wR="76200" hR="76200" stAng="10800000" swAng="2061921"/>
                <a:lnTo>
                  <a:pt x="6260262" y="0"/>
                </a:lnTo>
                <a:arcTo wR="76200" hR="76200" stAng="19538079" swAng="2061921"/>
                <a:lnTo>
                  <a:pt x="6273562" y="1351112"/>
                </a:lnTo>
                <a:arcTo wR="76200" hR="76200" stAng="0" swAng="2061921"/>
                <a:lnTo>
                  <a:pt x="13300" y="1394125"/>
                </a:lnTo>
                <a:arcTo wR="76200" hR="76200" stAng="8738079" swAng="2061921"/>
                <a:close/>
              </a:path>
            </a:pathLst>
          </a:custGeom>
        </p:spPr>
      </p:pic>
      <p:sp>
        <p:nvSpPr>
          <p:cNvPr id="7" name="Text 4"/>
          <p:cNvSpPr/>
          <p:nvPr/>
        </p:nvSpPr>
        <p:spPr>
          <a:xfrm>
            <a:off x="812800" y="3378200"/>
            <a:ext cx="617423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Les deux conteneurs sur tp-net, et commandes/1 renvoie la commande avec les infos d'Alice récupérées chez clients.</a:t>
            </a:r>
            <a:endParaRPr lang="en-US" sz="1300" dirty="0"/>
          </a:p>
        </p:txBody>
      </p:sp>
      <p:sp>
        <p:nvSpPr>
          <p:cNvPr id="8" name="Shape 5"/>
          <p:cNvSpPr/>
          <p:nvPr/>
        </p:nvSpPr>
        <p:spPr>
          <a:xfrm>
            <a:off x="7112000" y="1917700"/>
            <a:ext cx="4267200" cy="2673350"/>
          </a:xfrm>
          <a:prstGeom prst="roundRect">
            <a:avLst>
              <a:gd name="adj" fmla="val 2850"/>
            </a:avLst>
          </a:prstGeom>
          <a:solidFill>
            <a:srgbClr val="0C0C0C"/>
          </a:solidFill>
          <a:ln/>
        </p:spPr>
      </p:sp>
      <p:pic>
        <p:nvPicPr>
          <p:cNvPr id="9" name="Image 1" descr="curl -i : 404 client introuvable, 404 commande introuvable, puis 503 service clients indisponible après docker stop clients"/>
          <p:cNvPicPr>
            <a:picLocks noChangeAspect="1"/>
          </p:cNvPicPr>
          <p:nvPr/>
        </p:nvPicPr>
        <p:blipFill>
          <a:blip r:embed="rId4"/>
          <a:srcRect t="-32" b="-32"/>
          <a:stretch/>
        </p:blipFill>
        <p:spPr>
          <a:xfrm>
            <a:off x="7112000" y="1917700"/>
            <a:ext cx="4267200" cy="2673350"/>
          </a:xfrm>
          <a:prstGeom prst="roundRect">
            <a:avLst>
              <a:gd name="adj" fmla="val 2850"/>
            </a:avLst>
          </a:prstGeom>
        </p:spPr>
      </p:pic>
      <p:sp>
        <p:nvSpPr>
          <p:cNvPr id="10" name="Text 6"/>
          <p:cNvSpPr/>
          <p:nvPr/>
        </p:nvSpPr>
        <p:spPr>
          <a:xfrm>
            <a:off x="7112000" y="4718050"/>
            <a:ext cx="4395216"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404 pour un client ou une commande inexistants, puis 503 après docker stop clients.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4175673" y="2540000"/>
            <a:ext cx="3840575" cy="1803400"/>
          </a:xfrm>
          <a:prstGeom prst="rect">
            <a:avLst/>
          </a:prstGeom>
          <a:noFill/>
          <a:ln/>
        </p:spPr>
        <p:txBody>
          <a:bodyPr wrap="square" lIns="0" tIns="0" rIns="0" bIns="0" rtlCol="0" anchor="t">
            <a:normAutofit/>
          </a:bodyPr>
          <a:lstStyle/>
          <a:p>
            <a:pPr marL="0" indent="0" algn="ctr">
              <a:lnSpc>
                <a:spcPts val="14000"/>
              </a:lnSpc>
              <a:buNone/>
            </a:pPr>
            <a:r>
              <a:rPr lang="en-US" sz="14000" b="1" i="0" dirty="0">
                <a:solidFill>
                  <a:srgbClr val="F2A65A"/>
                </a:solidFill>
                <a:latin typeface="JetBrains Mono" pitchFamily="49" charset="0"/>
                <a:ea typeface="JetBrains Mono" pitchFamily="49" charset="-122"/>
                <a:cs typeface="JetBrains Mono" pitchFamily="49" charset="-120"/>
              </a:rPr>
              <a:t>TP2</a:t>
            </a:r>
            <a:endParaRPr lang="en-US" sz="1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TP2 · KAFKA</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Les services ne se connaissent plus</a:t>
            </a:r>
            <a:endParaRPr lang="en-US" sz="3600" dirty="0"/>
          </a:p>
        </p:txBody>
      </p:sp>
      <p:sp>
        <p:nvSpPr>
          <p:cNvPr id="4" name="Shape 2"/>
          <p:cNvSpPr/>
          <p:nvPr/>
        </p:nvSpPr>
        <p:spPr>
          <a:xfrm>
            <a:off x="812800" y="2388871"/>
            <a:ext cx="2413000" cy="1094740"/>
          </a:xfrm>
          <a:prstGeom prst="roundRect">
            <a:avLst>
              <a:gd name="adj" fmla="val 9281"/>
            </a:avLst>
          </a:prstGeom>
          <a:solidFill>
            <a:srgbClr val="14213D"/>
          </a:solidFill>
          <a:ln/>
        </p:spPr>
      </p:sp>
      <p:sp>
        <p:nvSpPr>
          <p:cNvPr id="5" name="Text 3"/>
          <p:cNvSpPr/>
          <p:nvPr/>
        </p:nvSpPr>
        <p:spPr>
          <a:xfrm>
            <a:off x="1016000" y="2642871"/>
            <a:ext cx="206679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F"/>
                </a:solidFill>
                <a:latin typeface="IBM Plex Sans" pitchFamily="34" charset="0"/>
                <a:ea typeface="IBM Plex Sans" pitchFamily="34" charset="-122"/>
                <a:cs typeface="IBM Plex Sans" pitchFamily="34" charset="-120"/>
              </a:rPr>
              <a:t>commandes</a:t>
            </a:r>
            <a:endParaRPr lang="en-US" sz="2000" dirty="0"/>
          </a:p>
        </p:txBody>
      </p:sp>
      <p:sp>
        <p:nvSpPr>
          <p:cNvPr id="6" name="Text 4"/>
          <p:cNvSpPr/>
          <p:nvPr/>
        </p:nvSpPr>
        <p:spPr>
          <a:xfrm>
            <a:off x="1016000" y="2998471"/>
            <a:ext cx="206679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A65A"/>
                </a:solidFill>
                <a:latin typeface="JetBrains Mono" pitchFamily="49" charset="0"/>
                <a:ea typeface="JetBrains Mono" pitchFamily="49" charset="-122"/>
                <a:cs typeface="JetBrains Mono" pitchFamily="49" charset="-120"/>
              </a:rPr>
              <a:t>POST /commandes</a:t>
            </a:r>
            <a:endParaRPr lang="en-US" sz="1300" dirty="0"/>
          </a:p>
        </p:txBody>
      </p:sp>
      <p:sp>
        <p:nvSpPr>
          <p:cNvPr id="7" name="Text 5"/>
          <p:cNvSpPr/>
          <p:nvPr/>
        </p:nvSpPr>
        <p:spPr>
          <a:xfrm>
            <a:off x="3693676" y="2639061"/>
            <a:ext cx="511969"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publie</a:t>
            </a:r>
            <a:endParaRPr lang="en-US" sz="1200" dirty="0"/>
          </a:p>
        </p:txBody>
      </p:sp>
      <p:pic>
        <p:nvPicPr>
          <p:cNvPr id="8" name="Image 0" descr="arrow-right"/>
          <p:cNvPicPr>
            <a:picLocks noChangeAspect="1"/>
          </p:cNvPicPr>
          <p:nvPr/>
        </p:nvPicPr>
        <p:blipFill>
          <a:blip r:embed="rId3"/>
          <a:srcRect/>
          <a:stretch/>
        </p:blipFill>
        <p:spPr>
          <a:xfrm>
            <a:off x="3568700" y="2928621"/>
            <a:ext cx="762000" cy="304800"/>
          </a:xfrm>
          <a:prstGeom prst="rect">
            <a:avLst/>
          </a:prstGeom>
        </p:spPr>
      </p:pic>
      <p:sp>
        <p:nvSpPr>
          <p:cNvPr id="9" name="Shape 6"/>
          <p:cNvSpPr/>
          <p:nvPr/>
        </p:nvSpPr>
        <p:spPr>
          <a:xfrm>
            <a:off x="4673600" y="2265682"/>
            <a:ext cx="2667000" cy="1341120"/>
          </a:xfrm>
          <a:prstGeom prst="roundRect">
            <a:avLst>
              <a:gd name="adj" fmla="val 7576"/>
            </a:avLst>
          </a:prstGeom>
          <a:solidFill>
            <a:srgbClr val="B5501F"/>
          </a:solidFill>
          <a:ln/>
        </p:spPr>
      </p:sp>
      <p:sp>
        <p:nvSpPr>
          <p:cNvPr id="10" name="Text 7"/>
          <p:cNvSpPr/>
          <p:nvPr/>
        </p:nvSpPr>
        <p:spPr>
          <a:xfrm>
            <a:off x="4876800" y="2519682"/>
            <a:ext cx="232841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DFCF9"/>
                </a:solidFill>
                <a:latin typeface="IBM Plex Sans" pitchFamily="34" charset="0"/>
                <a:ea typeface="IBM Plex Sans" pitchFamily="34" charset="-122"/>
                <a:cs typeface="IBM Plex Sans" pitchFamily="34" charset="-120"/>
              </a:rPr>
              <a:t>Kafka</a:t>
            </a:r>
            <a:endParaRPr lang="en-US" sz="2000" dirty="0"/>
          </a:p>
        </p:txBody>
      </p:sp>
      <p:sp>
        <p:nvSpPr>
          <p:cNvPr id="11" name="Text 8"/>
          <p:cNvSpPr/>
          <p:nvPr/>
        </p:nvSpPr>
        <p:spPr>
          <a:xfrm>
            <a:off x="4876800" y="2875282"/>
            <a:ext cx="232841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DFCF9"/>
                </a:solidFill>
                <a:latin typeface="JetBrains Mono" pitchFamily="49" charset="0"/>
                <a:ea typeface="JetBrains Mono" pitchFamily="49" charset="-122"/>
                <a:cs typeface="JetBrains Mono" pitchFamily="49" charset="-120"/>
              </a:rPr>
              <a:t>commandes-creees</a:t>
            </a:r>
            <a:endParaRPr lang="en-US" sz="1200" dirty="0"/>
          </a:p>
        </p:txBody>
      </p:sp>
      <p:sp>
        <p:nvSpPr>
          <p:cNvPr id="12" name="Text 9"/>
          <p:cNvSpPr/>
          <p:nvPr/>
        </p:nvSpPr>
        <p:spPr>
          <a:xfrm>
            <a:off x="4876800" y="3139439"/>
            <a:ext cx="232841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DFCF9"/>
                </a:solidFill>
                <a:latin typeface="IBM Plex Sans" pitchFamily="34" charset="0"/>
                <a:ea typeface="IBM Plex Sans" pitchFamily="34" charset="-122"/>
                <a:cs typeface="IBM Plex Sans" pitchFamily="34" charset="-120"/>
              </a:rPr>
              <a:t>2 partitions</a:t>
            </a:r>
            <a:endParaRPr lang="en-US" sz="1200" dirty="0"/>
          </a:p>
        </p:txBody>
      </p:sp>
      <p:sp>
        <p:nvSpPr>
          <p:cNvPr id="13" name="Text 10"/>
          <p:cNvSpPr/>
          <p:nvPr/>
        </p:nvSpPr>
        <p:spPr>
          <a:xfrm>
            <a:off x="7526243" y="2639061"/>
            <a:ext cx="1076516"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consomment</a:t>
            </a:r>
            <a:endParaRPr lang="en-US" sz="1200" dirty="0"/>
          </a:p>
        </p:txBody>
      </p:sp>
      <p:pic>
        <p:nvPicPr>
          <p:cNvPr id="14" name="Image 1" descr="arrow-right"/>
          <p:cNvPicPr>
            <a:picLocks noChangeAspect="1"/>
          </p:cNvPicPr>
          <p:nvPr/>
        </p:nvPicPr>
        <p:blipFill>
          <a:blip r:embed="rId4"/>
          <a:srcRect/>
          <a:stretch/>
        </p:blipFill>
        <p:spPr>
          <a:xfrm>
            <a:off x="7683500" y="2928621"/>
            <a:ext cx="762000" cy="304800"/>
          </a:xfrm>
          <a:prstGeom prst="rect">
            <a:avLst/>
          </a:prstGeom>
        </p:spPr>
      </p:pic>
      <p:sp>
        <p:nvSpPr>
          <p:cNvPr id="15" name="Shape 11"/>
          <p:cNvSpPr/>
          <p:nvPr/>
        </p:nvSpPr>
        <p:spPr>
          <a:xfrm>
            <a:off x="8794750" y="2028189"/>
            <a:ext cx="2578100" cy="838200"/>
          </a:xfrm>
          <a:prstGeom prst="roundRect">
            <a:avLst>
              <a:gd name="adj" fmla="val 11364"/>
            </a:avLst>
          </a:prstGeom>
          <a:solidFill>
            <a:srgbClr val="FDFCF9"/>
          </a:solidFill>
          <a:ln w="12700">
            <a:solidFill>
              <a:srgbClr val="14213D"/>
            </a:solidFill>
            <a:prstDash val="solid"/>
          </a:ln>
        </p:spPr>
      </p:sp>
      <p:sp>
        <p:nvSpPr>
          <p:cNvPr id="16" name="Text 12"/>
          <p:cNvSpPr/>
          <p:nvPr/>
        </p:nvSpPr>
        <p:spPr>
          <a:xfrm>
            <a:off x="8976360" y="2184400"/>
            <a:ext cx="228132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clients</a:t>
            </a:r>
            <a:endParaRPr lang="en-US" sz="1800" dirty="0"/>
          </a:p>
        </p:txBody>
      </p:sp>
      <p:sp>
        <p:nvSpPr>
          <p:cNvPr id="17" name="Text 13"/>
          <p:cNvSpPr/>
          <p:nvPr/>
        </p:nvSpPr>
        <p:spPr>
          <a:xfrm>
            <a:off x="8976360" y="2496821"/>
            <a:ext cx="22813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commandes par client</a:t>
            </a:r>
            <a:endParaRPr lang="en-US" sz="1200" dirty="0"/>
          </a:p>
        </p:txBody>
      </p:sp>
      <p:sp>
        <p:nvSpPr>
          <p:cNvPr id="18" name="Shape 14"/>
          <p:cNvSpPr/>
          <p:nvPr/>
        </p:nvSpPr>
        <p:spPr>
          <a:xfrm>
            <a:off x="8794750" y="3006089"/>
            <a:ext cx="2578100" cy="838200"/>
          </a:xfrm>
          <a:prstGeom prst="roundRect">
            <a:avLst>
              <a:gd name="adj" fmla="val 11364"/>
            </a:avLst>
          </a:prstGeom>
          <a:solidFill>
            <a:srgbClr val="FDFCF9"/>
          </a:solidFill>
          <a:ln w="12700">
            <a:solidFill>
              <a:srgbClr val="14213D"/>
            </a:solidFill>
            <a:prstDash val="solid"/>
          </a:ln>
        </p:spPr>
      </p:sp>
      <p:sp>
        <p:nvSpPr>
          <p:cNvPr id="19" name="Text 15"/>
          <p:cNvSpPr/>
          <p:nvPr/>
        </p:nvSpPr>
        <p:spPr>
          <a:xfrm>
            <a:off x="8976360" y="3162300"/>
            <a:ext cx="228132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statistiques</a:t>
            </a:r>
            <a:endParaRPr lang="en-US" sz="1800" dirty="0"/>
          </a:p>
        </p:txBody>
      </p:sp>
      <p:sp>
        <p:nvSpPr>
          <p:cNvPr id="20" name="Text 16"/>
          <p:cNvSpPr/>
          <p:nvPr/>
        </p:nvSpPr>
        <p:spPr>
          <a:xfrm>
            <a:off x="8976360" y="3474721"/>
            <a:ext cx="22813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par produit et par mois</a:t>
            </a:r>
            <a:endParaRPr lang="en-US" sz="1200" dirty="0"/>
          </a:p>
        </p:txBody>
      </p:sp>
      <p:sp>
        <p:nvSpPr>
          <p:cNvPr id="21" name="Text 17"/>
          <p:cNvSpPr/>
          <p:nvPr/>
        </p:nvSpPr>
        <p:spPr>
          <a:xfrm>
            <a:off x="812800" y="4206242"/>
            <a:ext cx="10883392"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4A5568"/>
                </a:solidFill>
                <a:latin typeface="IBM Plex Sans" pitchFamily="34" charset="0"/>
                <a:ea typeface="IBM Plex Sans" pitchFamily="34" charset="-122"/>
                <a:cs typeface="IBM Plex Sans" pitchFamily="34" charset="-120"/>
              </a:rPr>
              <a:t>commandes publie un événement et répond tout de suite, sans savoir qui le lira. Kafka garde le message même si aucun consommateur n'est lancé.</a:t>
            </a:r>
            <a:endParaRPr lang="en-US" sz="1700" dirty="0"/>
          </a:p>
        </p:txBody>
      </p:sp>
      <p:sp>
        <p:nvSpPr>
          <p:cNvPr id="22" name="Text 18"/>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TP2 Kafka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TP2 · PRODUCTEUR ET CONSOMMATEUR</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Un événement = une commande créée</a:t>
            </a:r>
            <a:endParaRPr lang="en-US" sz="3600" dirty="0"/>
          </a:p>
        </p:txBody>
      </p:sp>
      <p:sp>
        <p:nvSpPr>
          <p:cNvPr id="4" name="Text 2"/>
          <p:cNvSpPr/>
          <p:nvPr/>
        </p:nvSpPr>
        <p:spPr>
          <a:xfrm>
            <a:off x="812800" y="2021842"/>
            <a:ext cx="4826000" cy="3820160"/>
          </a:xfrm>
          <a:prstGeom prst="roundRect">
            <a:avLst>
              <a:gd name="adj" fmla="val 2660"/>
            </a:avLst>
          </a:prstGeom>
          <a:solidFill>
            <a:srgbClr val="14213D"/>
          </a:solidFill>
          <a:ln/>
        </p:spPr>
        <p:txBody>
          <a:bodyPr wrap="square" lIns="275042" tIns="275042" rIns="148550" bIns="275042" rtlCol="0" anchor="ctr">
            <a:normAutofit/>
          </a:bodyPr>
          <a:lstStyle/>
          <a:p>
            <a:pPr marL="0" indent="0" algn="l">
              <a:lnSpc>
                <a:spcPts val="2400"/>
              </a:lnSpc>
              <a:buNone/>
            </a:pPr>
            <a:r>
              <a:rPr lang="en-US" sz="1500" dirty="0">
                <a:solidFill>
                  <a:srgbClr val="BFC8D6"/>
                </a:solidFill>
                <a:latin typeface="JetBrains Mono" pitchFamily="49" charset="0"/>
                <a:ea typeface="JetBrains Mono" pitchFamily="49" charset="-122"/>
                <a:cs typeface="JetBrains Mono" pitchFamily="49" charset="-120"/>
              </a:rPr>
              <a:t>{</a:t>
            </a:r>
            <a:endParaRPr lang="en-US" sz="1500" dirty="0"/>
          </a:p>
          <a:p>
            <a:pPr marL="0" indent="0" algn="l">
              <a:lnSpc>
                <a:spcPts val="2400"/>
              </a:lnSpc>
              <a:buNone/>
            </a:pPr>
            <a:r>
              <a:rPr lang="en-US" sz="1500" dirty="0">
                <a:solidFill>
                  <a:srgbClr val="BFC8D6"/>
                </a:solidFill>
                <a:latin typeface="JetBrains Mono" pitchFamily="49" charset="0"/>
                <a:ea typeface="JetBrains Mono" pitchFamily="49" charset="-122"/>
                <a:cs typeface="JetBrains Mono" pitchFamily="49" charset="-120"/>
              </a:rPr>
              <a:t>"commande_id": 4,</a:t>
            </a:r>
            <a:endParaRPr lang="en-US" sz="1500" dirty="0"/>
          </a:p>
          <a:p>
            <a:pPr marL="0" indent="0" algn="l">
              <a:lnSpc>
                <a:spcPts val="2400"/>
              </a:lnSpc>
              <a:buNone/>
            </a:pPr>
            <a:r>
              <a:rPr lang="en-US" sz="1500" dirty="0">
                <a:solidFill>
                  <a:srgbClr val="BFC8D6"/>
                </a:solidFill>
                <a:latin typeface="JetBrains Mono" pitchFamily="49" charset="0"/>
                <a:ea typeface="JetBrains Mono" pitchFamily="49" charset="-122"/>
                <a:cs typeface="JetBrains Mono" pitchFamily="49" charset="-120"/>
              </a:rPr>
              <a:t>"client_id": 2,</a:t>
            </a:r>
            <a:endParaRPr lang="en-US" sz="1500" dirty="0"/>
          </a:p>
          <a:p>
            <a:pPr marL="0" indent="0" algn="l">
              <a:lnSpc>
                <a:spcPts val="2400"/>
              </a:lnSpc>
              <a:buNone/>
            </a:pPr>
            <a:r>
              <a:rPr lang="en-US" sz="1500" dirty="0">
                <a:solidFill>
                  <a:srgbClr val="BFC8D6"/>
                </a:solidFill>
                <a:latin typeface="JetBrains Mono" pitchFamily="49" charset="0"/>
                <a:ea typeface="JetBrains Mono" pitchFamily="49" charset="-122"/>
                <a:cs typeface="JetBrains Mono" pitchFamily="49" charset="-120"/>
              </a:rPr>
              <a:t>"produit": "PC",</a:t>
            </a:r>
            <a:endParaRPr lang="en-US" sz="1500" dirty="0"/>
          </a:p>
          <a:p>
            <a:pPr marL="0" indent="0" algn="l">
              <a:lnSpc>
                <a:spcPts val="2400"/>
              </a:lnSpc>
              <a:buNone/>
            </a:pPr>
            <a:r>
              <a:rPr lang="en-US" sz="1500" dirty="0">
                <a:solidFill>
                  <a:srgbClr val="BFC8D6"/>
                </a:solidFill>
                <a:latin typeface="JetBrains Mono" pitchFamily="49" charset="0"/>
                <a:ea typeface="JetBrains Mono" pitchFamily="49" charset="-122"/>
                <a:cs typeface="JetBrains Mono" pitchFamily="49" charset="-120"/>
              </a:rPr>
              <a:t>"montant": 1200,</a:t>
            </a:r>
            <a:endParaRPr lang="en-US" sz="1500" dirty="0"/>
          </a:p>
          <a:p>
            <a:pPr marL="0" indent="0" algn="l">
              <a:lnSpc>
                <a:spcPts val="2400"/>
              </a:lnSpc>
              <a:buNone/>
            </a:pPr>
            <a:r>
              <a:rPr lang="en-US" sz="1500" dirty="0">
                <a:solidFill>
                  <a:srgbClr val="BFC8D6"/>
                </a:solidFill>
                <a:latin typeface="JetBrains Mono" pitchFamily="49" charset="0"/>
                <a:ea typeface="JetBrains Mono" pitchFamily="49" charset="-122"/>
                <a:cs typeface="JetBrains Mono" pitchFamily="49" charset="-120"/>
              </a:rPr>
              <a:t>"date": "2026-10-02"</a:t>
            </a:r>
            <a:endParaRPr lang="en-US" sz="1500" dirty="0"/>
          </a:p>
          <a:p>
            <a:pPr marL="0" indent="0" algn="l">
              <a:lnSpc>
                <a:spcPts val="2400"/>
              </a:lnSpc>
              <a:buNone/>
            </a:pPr>
            <a:r>
              <a:rPr lang="en-US" sz="1500" dirty="0">
                <a:solidFill>
                  <a:srgbClr val="BFC8D6"/>
                </a:solidFill>
                <a:latin typeface="JetBrains Mono" pitchFamily="49" charset="0"/>
                <a:ea typeface="JetBrains Mono" pitchFamily="49" charset="-122"/>
                <a:cs typeface="JetBrains Mono" pitchFamily="49" charset="-120"/>
              </a:rPr>
              <a:t>}</a:t>
            </a:r>
            <a:endParaRPr lang="en-US" sz="1500" dirty="0"/>
          </a:p>
        </p:txBody>
      </p:sp>
      <p:sp>
        <p:nvSpPr>
          <p:cNvPr id="5" name="Text 3"/>
          <p:cNvSpPr/>
          <p:nvPr/>
        </p:nvSpPr>
        <p:spPr>
          <a:xfrm>
            <a:off x="5943600" y="2673350"/>
            <a:ext cx="559866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Clé = client_id</a:t>
            </a:r>
            <a:endParaRPr lang="en-US" sz="1800" dirty="0"/>
          </a:p>
        </p:txBody>
      </p:sp>
      <p:sp>
        <p:nvSpPr>
          <p:cNvPr id="6" name="Text 4"/>
          <p:cNvSpPr/>
          <p:nvPr/>
        </p:nvSpPr>
        <p:spPr>
          <a:xfrm>
            <a:off x="5943600" y="3011171"/>
            <a:ext cx="559866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Les commandes d'un même client vont toujours dans la même partition, donc restent dans l'ordre.</a:t>
            </a:r>
            <a:endParaRPr lang="en-US" sz="1400" dirty="0"/>
          </a:p>
        </p:txBody>
      </p:sp>
      <p:sp>
        <p:nvSpPr>
          <p:cNvPr id="7" name="Text 5"/>
          <p:cNvSpPr/>
          <p:nvPr/>
        </p:nvSpPr>
        <p:spPr>
          <a:xfrm>
            <a:off x="5943600" y="3763014"/>
            <a:ext cx="559866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Consommateur dans un thread</a:t>
            </a:r>
            <a:endParaRPr lang="en-US" sz="1800" dirty="0"/>
          </a:p>
        </p:txBody>
      </p:sp>
      <p:sp>
        <p:nvSpPr>
          <p:cNvPr id="8" name="Text 6"/>
          <p:cNvSpPr/>
          <p:nvPr/>
        </p:nvSpPr>
        <p:spPr>
          <a:xfrm>
            <a:off x="5943600" y="4100829"/>
            <a:ext cx="559866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clients lit Kafka en parallèle de son API Flask.</a:t>
            </a:r>
            <a:endParaRPr lang="en-US" sz="1400" dirty="0"/>
          </a:p>
        </p:txBody>
      </p:sp>
      <p:sp>
        <p:nvSpPr>
          <p:cNvPr id="9" name="Text 7"/>
          <p:cNvSpPr/>
          <p:nvPr/>
        </p:nvSpPr>
        <p:spPr>
          <a:xfrm>
            <a:off x="5943600" y="4603750"/>
            <a:ext cx="559866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Date ajoutée pour les stats</a:t>
            </a:r>
            <a:endParaRPr lang="en-US" sz="1800" dirty="0"/>
          </a:p>
        </p:txBody>
      </p:sp>
      <p:sp>
        <p:nvSpPr>
          <p:cNvPr id="10" name="Text 8"/>
          <p:cNvSpPr/>
          <p:nvPr/>
        </p:nvSpPr>
        <p:spPr>
          <a:xfrm>
            <a:off x="5943600" y="4941571"/>
            <a:ext cx="559866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Nécessaire pour le chiffre d'affaires par mois.</a:t>
            </a:r>
            <a:endParaRPr lang="en-US" sz="1400" dirty="0"/>
          </a:p>
        </p:txBody>
      </p:sp>
      <p:sp>
        <p:nvSpPr>
          <p:cNvPr id="11" name="Text 9"/>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TP2 Kafka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F2A65A"/>
                </a:solidFill>
                <a:latin typeface="JetBrains Mono" pitchFamily="49" charset="0"/>
                <a:ea typeface="JetBrains Mono" pitchFamily="49" charset="-122"/>
                <a:cs typeface="JetBrains Mono" pitchFamily="49" charset="-120"/>
              </a:rPr>
              <a:t>TP2 · ARRÊT DE CLIENTS</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4EF"/>
                </a:solidFill>
                <a:latin typeface="IBM Plex Sans" pitchFamily="34" charset="0"/>
                <a:ea typeface="IBM Plex Sans" pitchFamily="34" charset="-122"/>
                <a:cs typeface="IBM Plex Sans" pitchFamily="34" charset="-120"/>
              </a:rPr>
              <a:t>Aucun message perdu</a:t>
            </a:r>
            <a:endParaRPr lang="en-US" sz="3600" dirty="0"/>
          </a:p>
        </p:txBody>
      </p:sp>
      <p:sp>
        <p:nvSpPr>
          <p:cNvPr id="4" name="Shape 2"/>
          <p:cNvSpPr/>
          <p:nvPr/>
        </p:nvSpPr>
        <p:spPr>
          <a:xfrm>
            <a:off x="819150" y="2101850"/>
            <a:ext cx="2899807" cy="1623060"/>
          </a:xfrm>
          <a:prstGeom prst="roundRect">
            <a:avLst>
              <a:gd name="adj" fmla="val 5869"/>
            </a:avLst>
          </a:prstGeom>
          <a:noFill/>
          <a:ln w="12700">
            <a:solidFill>
              <a:srgbClr val="3A4A6B"/>
            </a:solidFill>
            <a:prstDash val="solid"/>
          </a:ln>
        </p:spPr>
      </p:sp>
      <p:sp>
        <p:nvSpPr>
          <p:cNvPr id="5" name="Text 3"/>
          <p:cNvSpPr/>
          <p:nvPr/>
        </p:nvSpPr>
        <p:spPr>
          <a:xfrm>
            <a:off x="1076960" y="2359664"/>
            <a:ext cx="245571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8D6"/>
                </a:solidFill>
                <a:latin typeface="JetBrains Mono" pitchFamily="49" charset="0"/>
                <a:ea typeface="JetBrains Mono" pitchFamily="49" charset="-122"/>
                <a:cs typeface="JetBrains Mono" pitchFamily="49" charset="-120"/>
              </a:rPr>
              <a:t>1 · docker stop clients</a:t>
            </a:r>
            <a:endParaRPr lang="en-US" sz="1300" dirty="0"/>
          </a:p>
        </p:txBody>
      </p:sp>
      <p:sp>
        <p:nvSpPr>
          <p:cNvPr id="6" name="Text 4"/>
          <p:cNvSpPr/>
          <p:nvPr/>
        </p:nvSpPr>
        <p:spPr>
          <a:xfrm>
            <a:off x="1076960" y="2667000"/>
            <a:ext cx="245571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F"/>
                </a:solidFill>
                <a:latin typeface="IBM Plex Sans" pitchFamily="34" charset="0"/>
                <a:ea typeface="IBM Plex Sans" pitchFamily="34" charset="-122"/>
                <a:cs typeface="IBM Plex Sans" pitchFamily="34" charset="-120"/>
              </a:rPr>
              <a:t>2 commandes créées : réponse normale, plus de 503</a:t>
            </a:r>
            <a:endParaRPr lang="en-US" sz="1500" dirty="0"/>
          </a:p>
        </p:txBody>
      </p:sp>
      <p:pic>
        <p:nvPicPr>
          <p:cNvPr id="7" name="Image 0" descr="arrow-right"/>
          <p:cNvPicPr>
            <a:picLocks noChangeAspect="1"/>
          </p:cNvPicPr>
          <p:nvPr/>
        </p:nvPicPr>
        <p:blipFill>
          <a:blip r:embed="rId3"/>
          <a:srcRect/>
          <a:stretch/>
        </p:blipFill>
        <p:spPr>
          <a:xfrm>
            <a:off x="3928507" y="2786379"/>
            <a:ext cx="508000" cy="254000"/>
          </a:xfrm>
          <a:prstGeom prst="rect">
            <a:avLst/>
          </a:prstGeom>
        </p:spPr>
      </p:pic>
      <p:sp>
        <p:nvSpPr>
          <p:cNvPr id="8" name="Shape 5"/>
          <p:cNvSpPr/>
          <p:nvPr/>
        </p:nvSpPr>
        <p:spPr>
          <a:xfrm>
            <a:off x="4646057" y="2028192"/>
            <a:ext cx="2899886" cy="1770380"/>
          </a:xfrm>
          <a:prstGeom prst="roundRect">
            <a:avLst>
              <a:gd name="adj" fmla="val 5380"/>
            </a:avLst>
          </a:prstGeom>
          <a:noFill/>
          <a:ln w="12700">
            <a:solidFill>
              <a:srgbClr val="3A4A6B"/>
            </a:solidFill>
            <a:prstDash val="solid"/>
          </a:ln>
        </p:spPr>
      </p:sp>
      <p:sp>
        <p:nvSpPr>
          <p:cNvPr id="9" name="Text 6"/>
          <p:cNvSpPr/>
          <p:nvPr/>
        </p:nvSpPr>
        <p:spPr>
          <a:xfrm>
            <a:off x="4903867" y="2286000"/>
            <a:ext cx="2455794"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8D6"/>
                </a:solidFill>
                <a:latin typeface="JetBrains Mono" pitchFamily="49" charset="0"/>
                <a:ea typeface="JetBrains Mono" pitchFamily="49" charset="-122"/>
                <a:cs typeface="JetBrains Mono" pitchFamily="49" charset="-120"/>
              </a:rPr>
              <a:t>2 · LAG du groupe</a:t>
            </a:r>
            <a:endParaRPr lang="en-US" sz="1300" dirty="0"/>
          </a:p>
        </p:txBody>
      </p:sp>
      <p:sp>
        <p:nvSpPr>
          <p:cNvPr id="10" name="Text 7"/>
          <p:cNvSpPr/>
          <p:nvPr/>
        </p:nvSpPr>
        <p:spPr>
          <a:xfrm>
            <a:off x="4903867" y="2593342"/>
            <a:ext cx="2455794"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2A65A"/>
                </a:solidFill>
                <a:latin typeface="JetBrains Mono" pitchFamily="49" charset="0"/>
                <a:ea typeface="JetBrains Mono" pitchFamily="49" charset="-122"/>
                <a:cs typeface="JetBrains Mono" pitchFamily="49" charset="-120"/>
              </a:rPr>
              <a:t>2</a:t>
            </a:r>
            <a:endParaRPr lang="en-US" sz="3600" dirty="0"/>
          </a:p>
        </p:txBody>
      </p:sp>
      <p:sp>
        <p:nvSpPr>
          <p:cNvPr id="11" name="Text 8"/>
          <p:cNvSpPr/>
          <p:nvPr/>
        </p:nvSpPr>
        <p:spPr>
          <a:xfrm>
            <a:off x="4903867" y="3309621"/>
            <a:ext cx="2455794"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8D6"/>
                </a:solidFill>
                <a:latin typeface="IBM Plex Sans" pitchFamily="34" charset="0"/>
                <a:ea typeface="IBM Plex Sans" pitchFamily="34" charset="-122"/>
                <a:cs typeface="IBM Plex Sans" pitchFamily="34" charset="-120"/>
              </a:rPr>
              <a:t>messages en attente</a:t>
            </a:r>
            <a:endParaRPr lang="en-US" sz="1300" dirty="0"/>
          </a:p>
        </p:txBody>
      </p:sp>
      <p:pic>
        <p:nvPicPr>
          <p:cNvPr id="12" name="Image 1" descr="arrow-right"/>
          <p:cNvPicPr>
            <a:picLocks noChangeAspect="1"/>
          </p:cNvPicPr>
          <p:nvPr/>
        </p:nvPicPr>
        <p:blipFill>
          <a:blip r:embed="rId3"/>
          <a:srcRect/>
          <a:stretch/>
        </p:blipFill>
        <p:spPr>
          <a:xfrm>
            <a:off x="7755493" y="2786379"/>
            <a:ext cx="508000" cy="254000"/>
          </a:xfrm>
          <a:prstGeom prst="rect">
            <a:avLst/>
          </a:prstGeom>
        </p:spPr>
      </p:pic>
      <p:sp>
        <p:nvSpPr>
          <p:cNvPr id="13" name="Shape 9"/>
          <p:cNvSpPr/>
          <p:nvPr/>
        </p:nvSpPr>
        <p:spPr>
          <a:xfrm>
            <a:off x="8473043" y="2028192"/>
            <a:ext cx="2899807" cy="1770380"/>
          </a:xfrm>
          <a:prstGeom prst="roundRect">
            <a:avLst>
              <a:gd name="adj" fmla="val 5380"/>
            </a:avLst>
          </a:prstGeom>
          <a:noFill/>
          <a:ln w="12700">
            <a:solidFill>
              <a:srgbClr val="3A4A6B"/>
            </a:solidFill>
            <a:prstDash val="solid"/>
          </a:ln>
        </p:spPr>
      </p:sp>
      <p:sp>
        <p:nvSpPr>
          <p:cNvPr id="14" name="Text 10"/>
          <p:cNvSpPr/>
          <p:nvPr/>
        </p:nvSpPr>
        <p:spPr>
          <a:xfrm>
            <a:off x="8730853" y="2286000"/>
            <a:ext cx="263564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8D6"/>
                </a:solidFill>
                <a:latin typeface="JetBrains Mono" pitchFamily="49" charset="0"/>
                <a:ea typeface="JetBrains Mono" pitchFamily="49" charset="-122"/>
                <a:cs typeface="JetBrains Mono" pitchFamily="49" charset="-120"/>
              </a:rPr>
              <a:t>3 · docker start clients</a:t>
            </a:r>
            <a:endParaRPr lang="en-US" sz="1300" dirty="0"/>
          </a:p>
        </p:txBody>
      </p:sp>
      <p:sp>
        <p:nvSpPr>
          <p:cNvPr id="15" name="Text 11"/>
          <p:cNvSpPr/>
          <p:nvPr/>
        </p:nvSpPr>
        <p:spPr>
          <a:xfrm>
            <a:off x="8730853" y="2593342"/>
            <a:ext cx="2455712"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6F4EF"/>
                </a:solidFill>
                <a:latin typeface="JetBrains Mono" pitchFamily="49" charset="0"/>
                <a:ea typeface="JetBrains Mono" pitchFamily="49" charset="-122"/>
                <a:cs typeface="JetBrains Mono" pitchFamily="49" charset="-120"/>
              </a:rPr>
              <a:t>0</a:t>
            </a:r>
            <a:endParaRPr lang="en-US" sz="3600" dirty="0"/>
          </a:p>
        </p:txBody>
      </p:sp>
      <p:sp>
        <p:nvSpPr>
          <p:cNvPr id="16" name="Text 12"/>
          <p:cNvSpPr/>
          <p:nvPr/>
        </p:nvSpPr>
        <p:spPr>
          <a:xfrm>
            <a:off x="8730853" y="3309621"/>
            <a:ext cx="245571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8D6"/>
                </a:solidFill>
                <a:latin typeface="IBM Plex Sans" pitchFamily="34" charset="0"/>
                <a:ea typeface="IBM Plex Sans" pitchFamily="34" charset="-122"/>
                <a:cs typeface="IBM Plex Sans" pitchFamily="34" charset="-120"/>
              </a:rPr>
              <a:t>les 2 commandes rattrapées</a:t>
            </a:r>
            <a:endParaRPr lang="en-US" sz="1300" dirty="0"/>
          </a:p>
        </p:txBody>
      </p:sp>
      <p:sp>
        <p:nvSpPr>
          <p:cNvPr id="17" name="Text 13"/>
          <p:cNvSpPr/>
          <p:nvPr/>
        </p:nvSpPr>
        <p:spPr>
          <a:xfrm>
            <a:off x="812800" y="4160521"/>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C8D6"/>
                </a:solidFill>
                <a:latin typeface="IBM Plex Sans" pitchFamily="34" charset="0"/>
                <a:ea typeface="IBM Plex Sans" pitchFamily="34" charset="-122"/>
                <a:cs typeface="IBM Plex Sans" pitchFamily="34" charset="-120"/>
              </a:rPr>
              <a:t>Kafka retient l'</a:t>
            </a:r>
            <a:r>
              <a:rPr lang="en-US" sz="1600" b="1" dirty="0">
                <a:solidFill>
                  <a:srgbClr val="F6F4EF"/>
                </a:solidFill>
                <a:latin typeface="IBM Plex Sans" pitchFamily="34" charset="0"/>
                <a:ea typeface="IBM Plex Sans" pitchFamily="34" charset="-122"/>
                <a:cs typeface="IBM Plex Sans" pitchFamily="34" charset="-120"/>
              </a:rPr>
              <a:t>offset</a:t>
            </a:r>
            <a:r>
              <a:rPr lang="en-US" sz="1600" dirty="0">
                <a:solidFill>
                  <a:srgbClr val="BFC8D6"/>
                </a:solidFill>
                <a:latin typeface="IBM Plex Sans" pitchFamily="34" charset="0"/>
                <a:ea typeface="IBM Plex Sans" pitchFamily="34" charset="-122"/>
                <a:cs typeface="IBM Plex Sans" pitchFamily="34" charset="-120"/>
              </a:rPr>
              <a:t> du groupe : clients reprend juste après le dernier message lu. Seul le compteur en mémoire repart de zéro.</a:t>
            </a:r>
            <a:endParaRPr lang="en-US" sz="1600" dirty="0"/>
          </a:p>
        </p:txBody>
      </p:sp>
      <p:sp>
        <p:nvSpPr>
          <p:cNvPr id="18" name="Text 1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AD"/>
                </a:solidFill>
                <a:latin typeface="JetBrains Mono" pitchFamily="49" charset="0"/>
                <a:ea typeface="JetBrains Mono" pitchFamily="49" charset="-122"/>
                <a:cs typeface="JetBrains Mono" pitchFamily="49" charset="-120"/>
              </a:rPr>
              <a:t>TP2 Kafka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TP2 Kafka</a:t>
            </a:r>
            <a:endParaRPr lang="en-US" sz="1200" dirty="0"/>
          </a:p>
        </p:txBody>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TP2 · RÉSULTATS OBTENUS</a:t>
            </a:r>
            <a:endParaRPr lang="en-US" sz="1400" dirty="0"/>
          </a:p>
        </p:txBody>
      </p:sp>
      <p:sp>
        <p:nvSpPr>
          <p:cNvPr id="4" name="Text 2"/>
          <p:cNvSpPr>
            <a:spLocks noGrp="1"/>
          </p:cNvSpPr>
          <p:nvPr>
            <p:ph type="title"/>
          </p:nvPr>
        </p:nvSpPr>
        <p:spPr>
          <a:xfrm>
            <a:off x="812800" y="116332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Le LAG avant et après le redémarrage</a:t>
            </a:r>
            <a:endParaRPr lang="en-US" sz="3200" dirty="0"/>
          </a:p>
        </p:txBody>
      </p:sp>
      <p:sp>
        <p:nvSpPr>
          <p:cNvPr id="5" name="Shape 3"/>
          <p:cNvSpPr/>
          <p:nvPr/>
        </p:nvSpPr>
        <p:spPr>
          <a:xfrm>
            <a:off x="193675" y="1917700"/>
            <a:ext cx="5198904" cy="1371362"/>
          </a:xfrm>
          <a:prstGeom prst="roundRect">
            <a:avLst>
              <a:gd name="adj" fmla="val 5557"/>
            </a:avLst>
          </a:prstGeom>
          <a:solidFill>
            <a:srgbClr val="0C0C0C"/>
          </a:solidFill>
          <a:ln/>
        </p:spPr>
      </p:sp>
      <p:pic>
        <p:nvPicPr>
          <p:cNvPr id="6" name="Image 0" descr="kafka-consumer-groups describe : clients-group sans membre actif, LAG de 1 sur chaque partition"/>
          <p:cNvPicPr>
            <a:picLocks noChangeAspect="1"/>
          </p:cNvPicPr>
          <p:nvPr/>
        </p:nvPicPr>
        <p:blipFill>
          <a:blip r:embed="rId3"/>
          <a:stretch>
            <a:fillRect/>
          </a:stretch>
        </p:blipFill>
        <p:spPr>
          <a:xfrm>
            <a:off x="193675" y="2127163"/>
            <a:ext cx="5198904" cy="952435"/>
          </a:xfrm>
          <a:prstGeom prst="rect">
            <a:avLst/>
          </a:prstGeom>
        </p:spPr>
      </p:pic>
      <p:sp>
        <p:nvSpPr>
          <p:cNvPr id="7" name="Text 4"/>
          <p:cNvSpPr/>
          <p:nvPr/>
        </p:nvSpPr>
        <p:spPr>
          <a:xfrm>
            <a:off x="570627" y="3500996"/>
            <a:ext cx="457835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clients arrêté : aucun membre actif, LAG de 1 sur chaque partition.</a:t>
            </a:r>
            <a:endParaRPr lang="en-US" sz="1300" dirty="0"/>
          </a:p>
        </p:txBody>
      </p:sp>
      <p:sp>
        <p:nvSpPr>
          <p:cNvPr id="8" name="Shape 5"/>
          <p:cNvSpPr/>
          <p:nvPr/>
        </p:nvSpPr>
        <p:spPr>
          <a:xfrm>
            <a:off x="5562600" y="1917700"/>
            <a:ext cx="5816600" cy="1987550"/>
          </a:xfrm>
          <a:prstGeom prst="roundRect">
            <a:avLst>
              <a:gd name="adj" fmla="val 3834"/>
            </a:avLst>
          </a:prstGeom>
          <a:solidFill>
            <a:srgbClr val="0C0C0C"/>
          </a:solidFill>
          <a:ln/>
        </p:spPr>
      </p:sp>
      <p:pic>
        <p:nvPicPr>
          <p:cNvPr id="9" name="Image 1" descr="Logs de clients après redémarrage : lecture des commandes Ecran et Clavier, puis LAG à 0"/>
          <p:cNvPicPr>
            <a:picLocks noChangeAspect="1"/>
          </p:cNvPicPr>
          <p:nvPr/>
        </p:nvPicPr>
        <p:blipFill>
          <a:blip r:embed="rId4"/>
          <a:srcRect l="-8" r="-8"/>
          <a:stretch/>
        </p:blipFill>
        <p:spPr>
          <a:xfrm>
            <a:off x="5562600" y="1917700"/>
            <a:ext cx="5816600" cy="1987550"/>
          </a:xfrm>
          <a:prstGeom prst="roundRect">
            <a:avLst>
              <a:gd name="adj" fmla="val 3834"/>
            </a:avLst>
          </a:prstGeom>
        </p:spPr>
      </p:pic>
      <p:sp>
        <p:nvSpPr>
          <p:cNvPr id="10" name="Text 6"/>
          <p:cNvSpPr/>
          <p:nvPr/>
        </p:nvSpPr>
        <p:spPr>
          <a:xfrm>
            <a:off x="5562600" y="4032250"/>
            <a:ext cx="599109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Après docker start : clients lit Ecran et Clavier, puis le LAG revient à 0.</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TP2 · GROUPES DE CONSOMMATEURS</a:t>
            </a:r>
            <a:endParaRPr lang="en-US" sz="1400" dirty="0"/>
          </a:p>
        </p:txBody>
      </p:sp>
      <p:sp>
        <p:nvSpPr>
          <p:cNvPr id="3" name="Text 1"/>
          <p:cNvSpPr>
            <a:spLocks noGrp="1"/>
          </p:cNvSpPr>
          <p:nvPr>
            <p:ph type="title"/>
          </p:nvPr>
        </p:nvSpPr>
        <p:spPr>
          <a:xfrm>
            <a:off x="812800" y="1163321"/>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Répartis dans un groupe, dupliqués entre groupes</a:t>
            </a:r>
            <a:endParaRPr lang="en-US" sz="3600" dirty="0"/>
          </a:p>
        </p:txBody>
      </p:sp>
      <p:sp>
        <p:nvSpPr>
          <p:cNvPr id="4" name="Shape 2"/>
          <p:cNvSpPr/>
          <p:nvPr/>
        </p:nvSpPr>
        <p:spPr>
          <a:xfrm>
            <a:off x="819150" y="2531114"/>
            <a:ext cx="5118100" cy="3304540"/>
          </a:xfrm>
          <a:prstGeom prst="roundRect">
            <a:avLst>
              <a:gd name="adj" fmla="val 2882"/>
            </a:avLst>
          </a:prstGeom>
          <a:solidFill>
            <a:srgbClr val="FDFCF9"/>
          </a:solidFill>
          <a:ln w="12700">
            <a:solidFill>
              <a:srgbClr val="D9D4C7"/>
            </a:solidFill>
            <a:prstDash val="solid"/>
          </a:ln>
        </p:spPr>
      </p:sp>
      <p:sp>
        <p:nvSpPr>
          <p:cNvPr id="5" name="Text 3"/>
          <p:cNvSpPr/>
          <p:nvPr/>
        </p:nvSpPr>
        <p:spPr>
          <a:xfrm>
            <a:off x="1127760" y="2839721"/>
            <a:ext cx="463590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Même groupe : groupe-A</a:t>
            </a:r>
            <a:endParaRPr lang="en-US" sz="2000" dirty="0"/>
          </a:p>
        </p:txBody>
      </p:sp>
      <p:sp>
        <p:nvSpPr>
          <p:cNvPr id="6" name="Text 4"/>
          <p:cNvSpPr/>
          <p:nvPr/>
        </p:nvSpPr>
        <p:spPr>
          <a:xfrm>
            <a:off x="1127760" y="3296921"/>
            <a:ext cx="463590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conso-a1 ← partition 0 : Stylo</a:t>
            </a:r>
            <a:endParaRPr lang="en-US" sz="1300" dirty="0"/>
          </a:p>
        </p:txBody>
      </p:sp>
      <p:sp>
        <p:nvSpPr>
          <p:cNvPr id="7" name="Text 5"/>
          <p:cNvSpPr/>
          <p:nvPr/>
        </p:nvSpPr>
        <p:spPr>
          <a:xfrm>
            <a:off x="1127760" y="3604264"/>
            <a:ext cx="463590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conso-a2 ← partition 1 : Sac, Lampe</a:t>
            </a:r>
            <a:endParaRPr lang="en-US" sz="1300" dirty="0"/>
          </a:p>
        </p:txBody>
      </p:sp>
      <p:sp>
        <p:nvSpPr>
          <p:cNvPr id="8" name="Text 6"/>
          <p:cNvSpPr/>
          <p:nvPr/>
        </p:nvSpPr>
        <p:spPr>
          <a:xfrm>
            <a:off x="1127760" y="3987800"/>
            <a:ext cx="463590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Chaque message est traité </a:t>
            </a:r>
            <a:r>
              <a:rPr lang="en-US" sz="1400" b="1" dirty="0">
                <a:solidFill>
                  <a:srgbClr val="4A5568"/>
                </a:solidFill>
                <a:latin typeface="IBM Plex Sans" pitchFamily="34" charset="0"/>
                <a:ea typeface="IBM Plex Sans" pitchFamily="34" charset="-122"/>
                <a:cs typeface="IBM Plex Sans" pitchFamily="34" charset="-120"/>
              </a:rPr>
              <a:t>une seule fois</a:t>
            </a:r>
            <a:r>
              <a:rPr lang="en-US" sz="1400" dirty="0">
                <a:solidFill>
                  <a:srgbClr val="4A5568"/>
                </a:solidFill>
                <a:latin typeface="IBM Plex Sans" pitchFamily="34" charset="0"/>
                <a:ea typeface="IBM Plex Sans" pitchFamily="34" charset="-122"/>
                <a:cs typeface="IBM Plex Sans" pitchFamily="34" charset="-120"/>
              </a:rPr>
              <a:t>. C'est du partage de charge.</a:t>
            </a:r>
            <a:endParaRPr lang="en-US" sz="1400" dirty="0"/>
          </a:p>
        </p:txBody>
      </p:sp>
      <p:sp>
        <p:nvSpPr>
          <p:cNvPr id="9" name="Shape 7"/>
          <p:cNvSpPr/>
          <p:nvPr/>
        </p:nvSpPr>
        <p:spPr>
          <a:xfrm>
            <a:off x="6254750" y="2531114"/>
            <a:ext cx="5118100" cy="3304540"/>
          </a:xfrm>
          <a:prstGeom prst="roundRect">
            <a:avLst>
              <a:gd name="adj" fmla="val 2882"/>
            </a:avLst>
          </a:prstGeom>
          <a:solidFill>
            <a:srgbClr val="FDFCF9"/>
          </a:solidFill>
          <a:ln w="12700">
            <a:solidFill>
              <a:srgbClr val="D9D4C7"/>
            </a:solidFill>
            <a:prstDash val="solid"/>
          </a:ln>
        </p:spPr>
      </p:sp>
      <p:sp>
        <p:nvSpPr>
          <p:cNvPr id="10" name="Text 8"/>
          <p:cNvSpPr/>
          <p:nvPr/>
        </p:nvSpPr>
        <p:spPr>
          <a:xfrm>
            <a:off x="6563360" y="2839721"/>
            <a:ext cx="463590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Deux groupes différents</a:t>
            </a:r>
            <a:endParaRPr lang="en-US" sz="2000" dirty="0"/>
          </a:p>
        </p:txBody>
      </p:sp>
      <p:sp>
        <p:nvSpPr>
          <p:cNvPr id="11" name="Text 9"/>
          <p:cNvSpPr/>
          <p:nvPr/>
        </p:nvSpPr>
        <p:spPr>
          <a:xfrm>
            <a:off x="6563360" y="3296921"/>
            <a:ext cx="463590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clients ← Stylo, Sac, Lampe</a:t>
            </a:r>
            <a:endParaRPr lang="en-US" sz="1300" dirty="0"/>
          </a:p>
        </p:txBody>
      </p:sp>
      <p:sp>
        <p:nvSpPr>
          <p:cNvPr id="12" name="Text 10"/>
          <p:cNvSpPr/>
          <p:nvPr/>
        </p:nvSpPr>
        <p:spPr>
          <a:xfrm>
            <a:off x="6563360" y="3604264"/>
            <a:ext cx="463590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statistiques ← Stylo, Sac, Lampe</a:t>
            </a:r>
            <a:endParaRPr lang="en-US" sz="1300" dirty="0"/>
          </a:p>
        </p:txBody>
      </p:sp>
      <p:sp>
        <p:nvSpPr>
          <p:cNvPr id="13" name="Text 11"/>
          <p:cNvSpPr/>
          <p:nvPr/>
        </p:nvSpPr>
        <p:spPr>
          <a:xfrm>
            <a:off x="6563360" y="3987800"/>
            <a:ext cx="463590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Chaque groupe reçoit </a:t>
            </a:r>
            <a:r>
              <a:rPr lang="en-US" sz="1400" b="1" dirty="0">
                <a:solidFill>
                  <a:srgbClr val="4A5568"/>
                </a:solidFill>
                <a:latin typeface="IBM Plex Sans" pitchFamily="34" charset="0"/>
                <a:ea typeface="IBM Plex Sans" pitchFamily="34" charset="-122"/>
                <a:cs typeface="IBM Plex Sans" pitchFamily="34" charset="-120"/>
              </a:rPr>
              <a:t>tous</a:t>
            </a:r>
            <a:r>
              <a:rPr lang="en-US" sz="1400" dirty="0">
                <a:solidFill>
                  <a:srgbClr val="4A5568"/>
                </a:solidFill>
                <a:latin typeface="IBM Plex Sans" pitchFamily="34" charset="0"/>
                <a:ea typeface="IBM Plex Sans" pitchFamily="34" charset="-122"/>
                <a:cs typeface="IBM Plex Sans" pitchFamily="34" charset="-120"/>
              </a:rPr>
              <a:t> les messages, avec son propre offset.</a:t>
            </a:r>
            <a:endParaRPr lang="en-US" sz="14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TP2 Kafka · max de consommateurs actifs = nombre de partitions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TP2 · RÉSULTATS OBTENUS</a:t>
            </a:r>
            <a:endParaRPr lang="en-US" sz="1400" dirty="0"/>
          </a:p>
        </p:txBody>
      </p:sp>
      <p:sp>
        <p:nvSpPr>
          <p:cNvPr id="3" name="Text 1"/>
          <p:cNvSpPr>
            <a:spLocks noGrp="1"/>
          </p:cNvSpPr>
          <p:nvPr>
            <p:ph type="title"/>
          </p:nvPr>
        </p:nvSpPr>
        <p:spPr>
          <a:xfrm>
            <a:off x="812800" y="116332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Même groupe ou groupes différents</a:t>
            </a:r>
            <a:endParaRPr lang="en-US" sz="3200" dirty="0"/>
          </a:p>
        </p:txBody>
      </p:sp>
      <p:sp>
        <p:nvSpPr>
          <p:cNvPr id="4" name="Shape 2"/>
          <p:cNvSpPr/>
          <p:nvPr/>
        </p:nvSpPr>
        <p:spPr>
          <a:xfrm>
            <a:off x="812800" y="1915164"/>
            <a:ext cx="5130800" cy="2641600"/>
          </a:xfrm>
          <a:prstGeom prst="roundRect">
            <a:avLst>
              <a:gd name="adj" fmla="val 2885"/>
            </a:avLst>
          </a:prstGeom>
          <a:solidFill>
            <a:srgbClr val="0C0C0C"/>
          </a:solidFill>
          <a:ln/>
        </p:spPr>
      </p:sp>
      <p:pic>
        <p:nvPicPr>
          <p:cNvPr id="5" name="Image 0" descr="groupe-A : conso-a1 reçoit Stylo sur la partition 0, conso-a2 reçoit Sac et Lampe sur la partition 1"/>
          <p:cNvPicPr>
            <a:picLocks noChangeAspect="1"/>
          </p:cNvPicPr>
          <p:nvPr/>
        </p:nvPicPr>
        <p:blipFill>
          <a:blip r:embed="rId3"/>
          <a:srcRect t="-38" b="-38"/>
          <a:stretch/>
        </p:blipFill>
        <p:spPr>
          <a:xfrm>
            <a:off x="812800" y="1915164"/>
            <a:ext cx="5130800" cy="2641600"/>
          </a:xfrm>
          <a:prstGeom prst="roundRect">
            <a:avLst>
              <a:gd name="adj" fmla="val 2885"/>
            </a:avLst>
          </a:prstGeom>
        </p:spPr>
      </p:pic>
      <p:sp>
        <p:nvSpPr>
          <p:cNvPr id="6" name="Text 3"/>
          <p:cNvSpPr/>
          <p:nvPr/>
        </p:nvSpPr>
        <p:spPr>
          <a:xfrm>
            <a:off x="812800" y="4683764"/>
            <a:ext cx="5284724"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groupe-A : Stylo chez conso-a1, Sac et Lampe chez conso-a2.</a:t>
            </a:r>
            <a:endParaRPr lang="en-US" sz="1300" dirty="0"/>
          </a:p>
        </p:txBody>
      </p:sp>
      <p:sp>
        <p:nvSpPr>
          <p:cNvPr id="7" name="Shape 4"/>
          <p:cNvSpPr/>
          <p:nvPr/>
        </p:nvSpPr>
        <p:spPr>
          <a:xfrm>
            <a:off x="6248400" y="1915164"/>
            <a:ext cx="5130800" cy="2413000"/>
          </a:xfrm>
          <a:prstGeom prst="roundRect">
            <a:avLst>
              <a:gd name="adj" fmla="val 3158"/>
            </a:avLst>
          </a:prstGeom>
          <a:solidFill>
            <a:srgbClr val="0C0C0C"/>
          </a:solidFill>
          <a:ln/>
        </p:spPr>
      </p:sp>
      <p:pic>
        <p:nvPicPr>
          <p:cNvPr id="8" name="Image 1" descr="Logs de clients et de statistiques : les deux ont reçu Stylo, Sac et Lampe"/>
          <p:cNvPicPr>
            <a:picLocks noChangeAspect="1"/>
          </p:cNvPicPr>
          <p:nvPr/>
        </p:nvPicPr>
        <p:blipFill>
          <a:blip r:embed="rId4"/>
          <a:srcRect l="-54" r="-54"/>
          <a:stretch/>
        </p:blipFill>
        <p:spPr>
          <a:xfrm>
            <a:off x="6248400" y="1915164"/>
            <a:ext cx="5130800" cy="2413000"/>
          </a:xfrm>
          <a:prstGeom prst="roundRect">
            <a:avLst>
              <a:gd name="adj" fmla="val 3158"/>
            </a:avLst>
          </a:prstGeom>
        </p:spPr>
      </p:pic>
      <p:sp>
        <p:nvSpPr>
          <p:cNvPr id="9" name="Text 5"/>
          <p:cNvSpPr/>
          <p:nvPr/>
        </p:nvSpPr>
        <p:spPr>
          <a:xfrm>
            <a:off x="6248400" y="4455164"/>
            <a:ext cx="5284724"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clients et statistiques reçoivent tous les deux les 3 commandes.</a:t>
            </a:r>
            <a:endParaRPr lang="en-US" sz="1300" dirty="0"/>
          </a:p>
        </p:txBody>
      </p:sp>
      <p:sp>
        <p:nvSpPr>
          <p:cNvPr id="10" name="Text 6"/>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TP2 Kafka</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4175673" y="2540000"/>
            <a:ext cx="3840575" cy="1803400"/>
          </a:xfrm>
          <a:prstGeom prst="rect">
            <a:avLst/>
          </a:prstGeom>
          <a:noFill/>
          <a:ln/>
        </p:spPr>
        <p:txBody>
          <a:bodyPr wrap="square" lIns="0" tIns="0" rIns="0" bIns="0" rtlCol="0" anchor="t">
            <a:normAutofit/>
          </a:bodyPr>
          <a:lstStyle/>
          <a:p>
            <a:pPr marL="0" indent="0" algn="ctr">
              <a:lnSpc>
                <a:spcPts val="14000"/>
              </a:lnSpc>
              <a:buNone/>
            </a:pPr>
            <a:r>
              <a:rPr lang="en-US" sz="14000" b="1" i="0" dirty="0">
                <a:solidFill>
                  <a:srgbClr val="F2A65A"/>
                </a:solidFill>
                <a:latin typeface="JetBrains Mono" pitchFamily="49" charset="0"/>
                <a:ea typeface="JetBrains Mono" pitchFamily="49" charset="-122"/>
                <a:cs typeface="JetBrains Mono" pitchFamily="49" charset="-120"/>
              </a:rPr>
              <a:t>TP3</a:t>
            </a:r>
            <a:endParaRPr lang="en-US" sz="14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TP3 · PRÉDICTION</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Un aller-retour par Kafka</a:t>
            </a:r>
            <a:endParaRPr lang="en-US" sz="3600" dirty="0"/>
          </a:p>
        </p:txBody>
      </p:sp>
      <p:sp>
        <p:nvSpPr>
          <p:cNvPr id="4" name="Shape 2"/>
          <p:cNvSpPr/>
          <p:nvPr/>
        </p:nvSpPr>
        <p:spPr>
          <a:xfrm>
            <a:off x="812800" y="2329179"/>
            <a:ext cx="2286000" cy="1076960"/>
          </a:xfrm>
          <a:prstGeom prst="roundRect">
            <a:avLst>
              <a:gd name="adj" fmla="val 9434"/>
            </a:avLst>
          </a:prstGeom>
          <a:solidFill>
            <a:srgbClr val="14213D"/>
          </a:solidFill>
          <a:ln/>
        </p:spPr>
      </p:sp>
      <p:sp>
        <p:nvSpPr>
          <p:cNvPr id="5" name="Text 3"/>
          <p:cNvSpPr/>
          <p:nvPr/>
        </p:nvSpPr>
        <p:spPr>
          <a:xfrm>
            <a:off x="1016000" y="2583179"/>
            <a:ext cx="193598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4EF"/>
                </a:solidFill>
                <a:latin typeface="IBM Plex Sans" pitchFamily="34" charset="0"/>
                <a:ea typeface="IBM Plex Sans" pitchFamily="34" charset="-122"/>
                <a:cs typeface="IBM Plex Sans" pitchFamily="34" charset="-120"/>
              </a:rPr>
              <a:t>commandes</a:t>
            </a:r>
            <a:endParaRPr lang="en-US" sz="2000" dirty="0"/>
          </a:p>
        </p:txBody>
      </p:sp>
      <p:sp>
        <p:nvSpPr>
          <p:cNvPr id="6" name="Text 4"/>
          <p:cNvSpPr/>
          <p:nvPr/>
        </p:nvSpPr>
        <p:spPr>
          <a:xfrm>
            <a:off x="1016000" y="2938779"/>
            <a:ext cx="193598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65A"/>
                </a:solidFill>
                <a:latin typeface="JetBrains Mono" pitchFamily="49" charset="0"/>
                <a:ea typeface="JetBrains Mono" pitchFamily="49" charset="-122"/>
                <a:cs typeface="JetBrains Mono" pitchFamily="49" charset="-120"/>
              </a:rPr>
              <a:t>POST /predictions</a:t>
            </a:r>
            <a:endParaRPr lang="en-US" sz="1200" dirty="0"/>
          </a:p>
        </p:txBody>
      </p:sp>
      <p:sp>
        <p:nvSpPr>
          <p:cNvPr id="7" name="Text 5"/>
          <p:cNvSpPr/>
          <p:nvPr/>
        </p:nvSpPr>
        <p:spPr>
          <a:xfrm>
            <a:off x="3251200" y="2021842"/>
            <a:ext cx="17272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demandes-prediction</a:t>
            </a:r>
            <a:endParaRPr lang="en-US" sz="1200" dirty="0"/>
          </a:p>
        </p:txBody>
      </p:sp>
      <p:pic>
        <p:nvPicPr>
          <p:cNvPr id="8" name="Image 0" descr="arrow-right"/>
          <p:cNvPicPr>
            <a:picLocks noChangeAspect="1"/>
          </p:cNvPicPr>
          <p:nvPr/>
        </p:nvPicPr>
        <p:blipFill>
          <a:blip r:embed="rId3"/>
          <a:srcRect/>
          <a:stretch/>
        </p:blipFill>
        <p:spPr>
          <a:xfrm>
            <a:off x="3708400" y="2524764"/>
            <a:ext cx="762000" cy="304800"/>
          </a:xfrm>
          <a:prstGeom prst="rect">
            <a:avLst/>
          </a:prstGeom>
        </p:spPr>
      </p:pic>
      <p:pic>
        <p:nvPicPr>
          <p:cNvPr id="9" name="Image 1" descr="arrow-left"/>
          <p:cNvPicPr>
            <a:picLocks noChangeAspect="1"/>
          </p:cNvPicPr>
          <p:nvPr/>
        </p:nvPicPr>
        <p:blipFill>
          <a:blip r:embed="rId4"/>
          <a:srcRect/>
          <a:stretch/>
        </p:blipFill>
        <p:spPr>
          <a:xfrm>
            <a:off x="3708400" y="2905764"/>
            <a:ext cx="762000" cy="304800"/>
          </a:xfrm>
          <a:prstGeom prst="rect">
            <a:avLst/>
          </a:prstGeom>
        </p:spPr>
      </p:pic>
      <p:sp>
        <p:nvSpPr>
          <p:cNvPr id="10" name="Text 6"/>
          <p:cNvSpPr/>
          <p:nvPr/>
        </p:nvSpPr>
        <p:spPr>
          <a:xfrm>
            <a:off x="3251200" y="3286764"/>
            <a:ext cx="17272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resultats-predictions</a:t>
            </a:r>
            <a:endParaRPr lang="en-US" sz="1200" dirty="0"/>
          </a:p>
        </p:txBody>
      </p:sp>
      <p:sp>
        <p:nvSpPr>
          <p:cNvPr id="11" name="Shape 7"/>
          <p:cNvSpPr/>
          <p:nvPr/>
        </p:nvSpPr>
        <p:spPr>
          <a:xfrm>
            <a:off x="5080000" y="2329179"/>
            <a:ext cx="1905000" cy="1076960"/>
          </a:xfrm>
          <a:prstGeom prst="roundRect">
            <a:avLst>
              <a:gd name="adj" fmla="val 9434"/>
            </a:avLst>
          </a:prstGeom>
          <a:solidFill>
            <a:srgbClr val="B5501F"/>
          </a:solidFill>
          <a:ln/>
        </p:spPr>
      </p:sp>
      <p:sp>
        <p:nvSpPr>
          <p:cNvPr id="12" name="Text 8"/>
          <p:cNvSpPr/>
          <p:nvPr/>
        </p:nvSpPr>
        <p:spPr>
          <a:xfrm>
            <a:off x="5283200" y="2583179"/>
            <a:ext cx="15494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DFCF9"/>
                </a:solidFill>
                <a:latin typeface="IBM Plex Sans" pitchFamily="34" charset="0"/>
                <a:ea typeface="IBM Plex Sans" pitchFamily="34" charset="-122"/>
                <a:cs typeface="IBM Plex Sans" pitchFamily="34" charset="-120"/>
              </a:rPr>
              <a:t>Kafka</a:t>
            </a:r>
            <a:endParaRPr lang="en-US" sz="2000" dirty="0"/>
          </a:p>
        </p:txBody>
      </p:sp>
      <p:sp>
        <p:nvSpPr>
          <p:cNvPr id="13" name="Text 9"/>
          <p:cNvSpPr/>
          <p:nvPr/>
        </p:nvSpPr>
        <p:spPr>
          <a:xfrm>
            <a:off x="5283200" y="2938779"/>
            <a:ext cx="1549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DFCF9"/>
                </a:solidFill>
                <a:latin typeface="IBM Plex Sans" pitchFamily="34" charset="0"/>
                <a:ea typeface="IBM Plex Sans" pitchFamily="34" charset="-122"/>
                <a:cs typeface="IBM Plex Sans" pitchFamily="34" charset="-120"/>
              </a:rPr>
              <a:t>2 topics</a:t>
            </a:r>
            <a:endParaRPr lang="en-US" sz="1200" dirty="0"/>
          </a:p>
        </p:txBody>
      </p:sp>
      <p:pic>
        <p:nvPicPr>
          <p:cNvPr id="14" name="Image 2" descr="arrow-right"/>
          <p:cNvPicPr>
            <a:picLocks noChangeAspect="1"/>
          </p:cNvPicPr>
          <p:nvPr/>
        </p:nvPicPr>
        <p:blipFill>
          <a:blip r:embed="rId3"/>
          <a:srcRect/>
          <a:stretch/>
        </p:blipFill>
        <p:spPr>
          <a:xfrm>
            <a:off x="7594600" y="2524764"/>
            <a:ext cx="762000" cy="304800"/>
          </a:xfrm>
          <a:prstGeom prst="rect">
            <a:avLst/>
          </a:prstGeom>
        </p:spPr>
      </p:pic>
      <p:pic>
        <p:nvPicPr>
          <p:cNvPr id="15" name="Image 3" descr="arrow-left"/>
          <p:cNvPicPr>
            <a:picLocks noChangeAspect="1"/>
          </p:cNvPicPr>
          <p:nvPr/>
        </p:nvPicPr>
        <p:blipFill>
          <a:blip r:embed="rId4"/>
          <a:srcRect/>
          <a:stretch/>
        </p:blipFill>
        <p:spPr>
          <a:xfrm>
            <a:off x="7594600" y="2905764"/>
            <a:ext cx="762000" cy="304800"/>
          </a:xfrm>
          <a:prstGeom prst="rect">
            <a:avLst/>
          </a:prstGeom>
        </p:spPr>
      </p:pic>
      <p:sp>
        <p:nvSpPr>
          <p:cNvPr id="16" name="Shape 10"/>
          <p:cNvSpPr/>
          <p:nvPr/>
        </p:nvSpPr>
        <p:spPr>
          <a:xfrm>
            <a:off x="8975725" y="2323467"/>
            <a:ext cx="2393950" cy="1088390"/>
          </a:xfrm>
          <a:prstGeom prst="roundRect">
            <a:avLst>
              <a:gd name="adj" fmla="val 8460"/>
            </a:avLst>
          </a:prstGeom>
          <a:solidFill>
            <a:srgbClr val="FDFCF9"/>
          </a:solidFill>
          <a:ln w="19050">
            <a:solidFill>
              <a:srgbClr val="14213D"/>
            </a:solidFill>
            <a:prstDash val="solid"/>
          </a:ln>
        </p:spPr>
      </p:sp>
      <p:sp>
        <p:nvSpPr>
          <p:cNvPr id="17" name="Text 11"/>
          <p:cNvSpPr/>
          <p:nvPr/>
        </p:nvSpPr>
        <p:spPr>
          <a:xfrm>
            <a:off x="9184640" y="2583179"/>
            <a:ext cx="203540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prediction</a:t>
            </a:r>
            <a:endParaRPr lang="en-US" sz="2000" dirty="0"/>
          </a:p>
        </p:txBody>
      </p:sp>
      <p:sp>
        <p:nvSpPr>
          <p:cNvPr id="18" name="Text 12"/>
          <p:cNvSpPr/>
          <p:nvPr/>
        </p:nvSpPr>
        <p:spPr>
          <a:xfrm>
            <a:off x="9184640" y="2938779"/>
            <a:ext cx="203540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5501F"/>
                </a:solidFill>
                <a:latin typeface="JetBrains Mono" pitchFamily="49" charset="0"/>
                <a:ea typeface="JetBrains Mono" pitchFamily="49" charset="-122"/>
                <a:cs typeface="JetBrains Mono" pitchFamily="49" charset="-120"/>
              </a:rPr>
              <a:t>modele_commande.pkl</a:t>
            </a:r>
            <a:endParaRPr lang="en-US" sz="1200" dirty="0"/>
          </a:p>
        </p:txBody>
      </p:sp>
      <p:sp>
        <p:nvSpPr>
          <p:cNvPr id="19" name="Shape 13"/>
          <p:cNvSpPr/>
          <p:nvPr/>
        </p:nvSpPr>
        <p:spPr>
          <a:xfrm>
            <a:off x="812800" y="4081779"/>
            <a:ext cx="3386614" cy="0"/>
          </a:xfrm>
          <a:prstGeom prst="line">
            <a:avLst/>
          </a:prstGeom>
          <a:noFill/>
          <a:ln w="25400">
            <a:solidFill>
              <a:srgbClr val="B5501F"/>
            </a:solidFill>
            <a:prstDash val="solid"/>
          </a:ln>
        </p:spPr>
      </p:sp>
      <p:sp>
        <p:nvSpPr>
          <p:cNvPr id="20" name="Text 14"/>
          <p:cNvSpPr/>
          <p:nvPr/>
        </p:nvSpPr>
        <p:spPr>
          <a:xfrm>
            <a:off x="812800" y="4246879"/>
            <a:ext cx="34882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202 Accepted</a:t>
            </a:r>
            <a:endParaRPr lang="en-US" sz="1600" dirty="0"/>
          </a:p>
        </p:txBody>
      </p:sp>
      <p:sp>
        <p:nvSpPr>
          <p:cNvPr id="21" name="Text 15"/>
          <p:cNvSpPr/>
          <p:nvPr/>
        </p:nvSpPr>
        <p:spPr>
          <a:xfrm>
            <a:off x="812800" y="4566921"/>
            <a:ext cx="348821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La demande est acceptée, le résultat arrive plus tard.</a:t>
            </a:r>
            <a:endParaRPr lang="en-US" sz="1400" dirty="0"/>
          </a:p>
        </p:txBody>
      </p:sp>
      <p:sp>
        <p:nvSpPr>
          <p:cNvPr id="22" name="Shape 16"/>
          <p:cNvSpPr/>
          <p:nvPr/>
        </p:nvSpPr>
        <p:spPr>
          <a:xfrm>
            <a:off x="4402614" y="4081779"/>
            <a:ext cx="3386693" cy="0"/>
          </a:xfrm>
          <a:prstGeom prst="line">
            <a:avLst/>
          </a:prstGeom>
          <a:noFill/>
          <a:ln w="25400">
            <a:solidFill>
              <a:srgbClr val="B5501F"/>
            </a:solidFill>
            <a:prstDash val="solid"/>
          </a:ln>
        </p:spPr>
      </p:sp>
      <p:sp>
        <p:nvSpPr>
          <p:cNvPr id="23" name="Text 17"/>
          <p:cNvSpPr/>
          <p:nvPr/>
        </p:nvSpPr>
        <p:spPr>
          <a:xfrm>
            <a:off x="4402614" y="4246879"/>
            <a:ext cx="34882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Pas d'API dans prediction</a:t>
            </a:r>
            <a:endParaRPr lang="en-US" sz="1600" dirty="0"/>
          </a:p>
        </p:txBody>
      </p:sp>
      <p:sp>
        <p:nvSpPr>
          <p:cNvPr id="24" name="Text 18"/>
          <p:cNvSpPr/>
          <p:nvPr/>
        </p:nvSpPr>
        <p:spPr>
          <a:xfrm>
            <a:off x="4402614" y="4566921"/>
            <a:ext cx="348829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Il lit un topic et écrit dans l'autre, c'est tout.</a:t>
            </a:r>
            <a:endParaRPr lang="en-US" sz="1400" dirty="0"/>
          </a:p>
        </p:txBody>
      </p:sp>
      <p:sp>
        <p:nvSpPr>
          <p:cNvPr id="25" name="Shape 19"/>
          <p:cNvSpPr/>
          <p:nvPr/>
        </p:nvSpPr>
        <p:spPr>
          <a:xfrm>
            <a:off x="7992507" y="4081779"/>
            <a:ext cx="3386693" cy="0"/>
          </a:xfrm>
          <a:prstGeom prst="line">
            <a:avLst/>
          </a:prstGeom>
          <a:noFill/>
          <a:ln w="25400">
            <a:solidFill>
              <a:srgbClr val="B5501F"/>
            </a:solidFill>
            <a:prstDash val="solid"/>
          </a:ln>
        </p:spPr>
      </p:sp>
      <p:sp>
        <p:nvSpPr>
          <p:cNvPr id="26" name="Text 20"/>
          <p:cNvSpPr/>
          <p:nvPr/>
        </p:nvSpPr>
        <p:spPr>
          <a:xfrm>
            <a:off x="7992507" y="4246879"/>
            <a:ext cx="34882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Modèle chargé une fois</a:t>
            </a:r>
            <a:endParaRPr lang="en-US" sz="1600" dirty="0"/>
          </a:p>
        </p:txBody>
      </p:sp>
      <p:sp>
        <p:nvSpPr>
          <p:cNvPr id="27" name="Text 21"/>
          <p:cNvSpPr/>
          <p:nvPr/>
        </p:nvSpPr>
        <p:spPr>
          <a:xfrm>
            <a:off x="7992507" y="4566921"/>
            <a:ext cx="348829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Au démarrage, jamais réentraîné dans le service.</a:t>
            </a:r>
            <a:endParaRPr lang="en-US" sz="1400" dirty="0"/>
          </a:p>
        </p:txBody>
      </p:sp>
      <p:sp>
        <p:nvSpPr>
          <p:cNvPr id="28" name="Text 2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TP3 Prédiction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TP3 · LE MODÈLE</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Random Forest sur données simulées</a:t>
            </a:r>
            <a:endParaRPr lang="en-US" sz="3600" dirty="0"/>
          </a:p>
        </p:txBody>
      </p:sp>
      <p:sp>
        <p:nvSpPr>
          <p:cNvPr id="4" name="Shape 2"/>
          <p:cNvSpPr/>
          <p:nvPr/>
        </p:nvSpPr>
        <p:spPr>
          <a:xfrm>
            <a:off x="812800" y="2021842"/>
            <a:ext cx="3373120" cy="1617980"/>
          </a:xfrm>
          <a:prstGeom prst="roundRect">
            <a:avLst>
              <a:gd name="adj" fmla="val 6279"/>
            </a:avLst>
          </a:prstGeom>
          <a:solidFill>
            <a:srgbClr val="14213D"/>
          </a:solidFill>
          <a:ln/>
        </p:spPr>
      </p:sp>
      <p:sp>
        <p:nvSpPr>
          <p:cNvPr id="5" name="Text 3"/>
          <p:cNvSpPr/>
          <p:nvPr/>
        </p:nvSpPr>
        <p:spPr>
          <a:xfrm>
            <a:off x="1066800" y="2326642"/>
            <a:ext cx="2951074"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2A65A"/>
                </a:solidFill>
                <a:latin typeface="JetBrains Mono" pitchFamily="49" charset="0"/>
                <a:ea typeface="JetBrains Mono" pitchFamily="49" charset="-122"/>
                <a:cs typeface="JetBrains Mono" pitchFamily="49" charset="-120"/>
              </a:rPr>
              <a:t>90,5 %</a:t>
            </a:r>
            <a:endParaRPr lang="en-US" sz="4800" dirty="0"/>
          </a:p>
        </p:txBody>
      </p:sp>
      <p:sp>
        <p:nvSpPr>
          <p:cNvPr id="6" name="Text 4"/>
          <p:cNvSpPr/>
          <p:nvPr/>
        </p:nvSpPr>
        <p:spPr>
          <a:xfrm>
            <a:off x="1066800" y="3048000"/>
            <a:ext cx="295107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F"/>
                </a:solidFill>
                <a:latin typeface="IBM Plex Sans" pitchFamily="34" charset="0"/>
                <a:ea typeface="IBM Plex Sans" pitchFamily="34" charset="-122"/>
                <a:cs typeface="IBM Plex Sans" pitchFamily="34" charset="-120"/>
              </a:rPr>
              <a:t>accuracy sur le jeu de test</a:t>
            </a:r>
            <a:endParaRPr lang="en-US" sz="1500" dirty="0"/>
          </a:p>
        </p:txBody>
      </p:sp>
      <p:sp>
        <p:nvSpPr>
          <p:cNvPr id="7" name="Shape 5"/>
          <p:cNvSpPr/>
          <p:nvPr/>
        </p:nvSpPr>
        <p:spPr>
          <a:xfrm>
            <a:off x="4395470" y="2028192"/>
            <a:ext cx="3380740" cy="1605280"/>
          </a:xfrm>
          <a:prstGeom prst="roundRect">
            <a:avLst>
              <a:gd name="adj" fmla="val 5934"/>
            </a:avLst>
          </a:prstGeom>
          <a:solidFill>
            <a:srgbClr val="FDFCF9"/>
          </a:solidFill>
          <a:ln w="12700">
            <a:solidFill>
              <a:srgbClr val="D9D4C7"/>
            </a:solidFill>
            <a:prstDash val="solid"/>
          </a:ln>
        </p:spPr>
      </p:sp>
      <p:sp>
        <p:nvSpPr>
          <p:cNvPr id="8" name="Text 6"/>
          <p:cNvSpPr/>
          <p:nvPr/>
        </p:nvSpPr>
        <p:spPr>
          <a:xfrm>
            <a:off x="4653280" y="2336800"/>
            <a:ext cx="2951074"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4213D"/>
                </a:solidFill>
                <a:latin typeface="JetBrains Mono" pitchFamily="49" charset="0"/>
                <a:ea typeface="JetBrains Mono" pitchFamily="49" charset="-122"/>
                <a:cs typeface="JetBrains Mono" pitchFamily="49" charset="-120"/>
              </a:rPr>
              <a:t>0,69</a:t>
            </a:r>
            <a:endParaRPr lang="en-US" sz="4800" dirty="0"/>
          </a:p>
        </p:txBody>
      </p:sp>
      <p:sp>
        <p:nvSpPr>
          <p:cNvPr id="9" name="Text 7"/>
          <p:cNvSpPr/>
          <p:nvPr/>
        </p:nvSpPr>
        <p:spPr>
          <a:xfrm>
            <a:off x="4653280" y="3058158"/>
            <a:ext cx="295107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client 25 du sujet : prédiction 1</a:t>
            </a:r>
            <a:endParaRPr lang="en-US" sz="1500" dirty="0"/>
          </a:p>
        </p:txBody>
      </p:sp>
      <p:sp>
        <p:nvSpPr>
          <p:cNvPr id="10" name="Shape 8"/>
          <p:cNvSpPr/>
          <p:nvPr/>
        </p:nvSpPr>
        <p:spPr>
          <a:xfrm>
            <a:off x="7992110" y="2028192"/>
            <a:ext cx="3380740" cy="1605280"/>
          </a:xfrm>
          <a:prstGeom prst="roundRect">
            <a:avLst>
              <a:gd name="adj" fmla="val 5934"/>
            </a:avLst>
          </a:prstGeom>
          <a:solidFill>
            <a:srgbClr val="FDFCF9"/>
          </a:solidFill>
          <a:ln w="12700">
            <a:solidFill>
              <a:srgbClr val="D9D4C7"/>
            </a:solidFill>
            <a:prstDash val="solid"/>
          </a:ln>
        </p:spPr>
      </p:sp>
      <p:sp>
        <p:nvSpPr>
          <p:cNvPr id="11" name="Text 9"/>
          <p:cNvSpPr/>
          <p:nvPr/>
        </p:nvSpPr>
        <p:spPr>
          <a:xfrm>
            <a:off x="8249920" y="2336800"/>
            <a:ext cx="2951074"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4213D"/>
                </a:solidFill>
                <a:latin typeface="JetBrains Mono" pitchFamily="49" charset="0"/>
                <a:ea typeface="JetBrains Mono" pitchFamily="49" charset="-122"/>
                <a:cs typeface="JetBrains Mono" pitchFamily="49" charset="-120"/>
              </a:rPr>
              <a:t>0,01</a:t>
            </a:r>
            <a:endParaRPr lang="en-US" sz="4800" dirty="0"/>
          </a:p>
        </p:txBody>
      </p:sp>
      <p:sp>
        <p:nvSpPr>
          <p:cNvPr id="12" name="Text 10"/>
          <p:cNvSpPr/>
          <p:nvPr/>
        </p:nvSpPr>
        <p:spPr>
          <a:xfrm>
            <a:off x="8249920" y="3058158"/>
            <a:ext cx="295107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client 40, inactif : prédiction 0</a:t>
            </a:r>
            <a:endParaRPr lang="en-US" sz="1500" dirty="0"/>
          </a:p>
        </p:txBody>
      </p:sp>
      <p:sp>
        <p:nvSpPr>
          <p:cNvPr id="13" name="Text 11"/>
          <p:cNvSpPr/>
          <p:nvPr/>
        </p:nvSpPr>
        <p:spPr>
          <a:xfrm>
            <a:off x="883920" y="3995427"/>
            <a:ext cx="10804652" cy="88265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2 000 clients simulés : le sujet ne fournit pas de données historiques</a:t>
            </a:r>
            <a:endParaRPr lang="en-US" sz="1500" dirty="0"/>
          </a:p>
          <a:p>
            <a:pPr marL="18288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6 variables : âge, ancienneté, nombre et montants des commandes, jours depuis la dernière</a:t>
            </a:r>
            <a:endParaRPr lang="en-US" sz="1500" dirty="0"/>
          </a:p>
          <a:p>
            <a:pPr marL="18288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Entraîné dans l'image python:3.12-slim, comme le service, pour éviter les écarts de version du .pkl</a:t>
            </a:r>
            <a:endParaRPr lang="en-US" sz="15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TP3 Prédiction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TP3 · RÉSULTATS OBTENUS</a:t>
            </a:r>
            <a:endParaRPr lang="en-US" sz="1400" dirty="0"/>
          </a:p>
        </p:txBody>
      </p:sp>
      <p:sp>
        <p:nvSpPr>
          <p:cNvPr id="3" name="Text 1"/>
          <p:cNvSpPr>
            <a:spLocks noGrp="1"/>
          </p:cNvSpPr>
          <p:nvPr>
            <p:ph type="title"/>
          </p:nvPr>
        </p:nvSpPr>
        <p:spPr>
          <a:xfrm>
            <a:off x="812800" y="1163327"/>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Entraînement et prédictions</a:t>
            </a:r>
            <a:endParaRPr lang="en-US" sz="3200" dirty="0"/>
          </a:p>
        </p:txBody>
      </p:sp>
      <p:sp>
        <p:nvSpPr>
          <p:cNvPr id="4" name="Shape 2"/>
          <p:cNvSpPr/>
          <p:nvPr/>
        </p:nvSpPr>
        <p:spPr>
          <a:xfrm>
            <a:off x="812800" y="1915158"/>
            <a:ext cx="4826000" cy="984250"/>
          </a:xfrm>
          <a:prstGeom prst="roundRect">
            <a:avLst>
              <a:gd name="adj" fmla="val 7742"/>
            </a:avLst>
          </a:prstGeom>
          <a:solidFill>
            <a:srgbClr val="0C0C0C"/>
          </a:solidFill>
          <a:ln/>
        </p:spPr>
      </p:sp>
      <p:pic>
        <p:nvPicPr>
          <p:cNvPr id="5" name="Image 0" descr="Sortie de l'entraînement : accuracy 0.905, exemple du sujet prédiction 1 probabilité 0.69"/>
          <p:cNvPicPr>
            <a:picLocks noChangeAspect="1"/>
          </p:cNvPicPr>
          <p:nvPr/>
        </p:nvPicPr>
        <p:blipFill>
          <a:blip r:embed="rId3"/>
          <a:srcRect t="-16" b="-16"/>
          <a:stretch/>
        </p:blipFill>
        <p:spPr>
          <a:xfrm>
            <a:off x="812800" y="1915158"/>
            <a:ext cx="4826000" cy="984250"/>
          </a:xfrm>
          <a:prstGeom prst="roundRect">
            <a:avLst>
              <a:gd name="adj" fmla="val 7742"/>
            </a:avLst>
          </a:prstGeom>
        </p:spPr>
      </p:pic>
      <p:sp>
        <p:nvSpPr>
          <p:cNvPr id="6" name="Text 3"/>
          <p:cNvSpPr/>
          <p:nvPr/>
        </p:nvSpPr>
        <p:spPr>
          <a:xfrm>
            <a:off x="812800" y="3026408"/>
            <a:ext cx="497078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Entraînement : accuracy de 0,905 sur le jeu de test.</a:t>
            </a:r>
            <a:endParaRPr lang="en-US" sz="1300" dirty="0"/>
          </a:p>
        </p:txBody>
      </p:sp>
      <p:sp>
        <p:nvSpPr>
          <p:cNvPr id="7" name="Shape 4"/>
          <p:cNvSpPr/>
          <p:nvPr/>
        </p:nvSpPr>
        <p:spPr>
          <a:xfrm>
            <a:off x="5943600" y="1915158"/>
            <a:ext cx="5435600" cy="3429000"/>
          </a:xfrm>
          <a:prstGeom prst="roundRect">
            <a:avLst>
              <a:gd name="adj" fmla="val 2222"/>
            </a:avLst>
          </a:prstGeom>
          <a:solidFill>
            <a:srgbClr val="0C0C0C"/>
          </a:solidFill>
          <a:ln/>
        </p:spPr>
      </p:sp>
      <p:pic>
        <p:nvPicPr>
          <p:cNvPr id="8" name="Image 1" descr="Logs de prediction et de commandes : client 25 prédiction 1 probabilité 0.69, client 40 prédiction 0 probabilité 0.01"/>
          <p:cNvPicPr>
            <a:picLocks noChangeAspect="1"/>
          </p:cNvPicPr>
          <p:nvPr/>
        </p:nvPicPr>
        <p:blipFill>
          <a:blip r:embed="rId4"/>
          <a:stretch>
            <a:fillRect/>
          </a:stretch>
        </p:blipFill>
        <p:spPr>
          <a:xfrm>
            <a:off x="6182949" y="1915158"/>
            <a:ext cx="4956903" cy="3429000"/>
          </a:xfrm>
          <a:prstGeom prst="rect">
            <a:avLst/>
          </a:prstGeom>
        </p:spPr>
      </p:pic>
      <p:sp>
        <p:nvSpPr>
          <p:cNvPr id="9" name="Text 5"/>
          <p:cNvSpPr/>
          <p:nvPr/>
        </p:nvSpPr>
        <p:spPr>
          <a:xfrm>
            <a:off x="5943600" y="5471158"/>
            <a:ext cx="55986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prediction traite les demandes, commandes reçoit les résultats.</a:t>
            </a:r>
            <a:endParaRPr lang="en-US" sz="1300" dirty="0"/>
          </a:p>
        </p:txBody>
      </p:sp>
      <p:sp>
        <p:nvSpPr>
          <p:cNvPr id="10" name="Text 6"/>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TP3 Prédiction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F2A65A"/>
                </a:solidFill>
                <a:latin typeface="JetBrains Mono" pitchFamily="49" charset="0"/>
                <a:ea typeface="JetBrains Mono" pitchFamily="49" charset="-122"/>
                <a:cs typeface="JetBrains Mono" pitchFamily="49" charset="-120"/>
              </a:rPr>
              <a:t>TP3 · K INSTANCES ET PANNES</a:t>
            </a:r>
            <a:endParaRPr lang="en-US" sz="1400" dirty="0"/>
          </a:p>
        </p:txBody>
      </p:sp>
      <p:sp>
        <p:nvSpPr>
          <p:cNvPr id="3" name="Text 1"/>
          <p:cNvSpPr>
            <a:spLocks noGrp="1"/>
          </p:cNvSpPr>
          <p:nvPr>
            <p:ph type="title"/>
          </p:nvPr>
        </p:nvSpPr>
        <p:spPr>
          <a:xfrm>
            <a:off x="812800" y="1163327"/>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4EF"/>
                </a:solidFill>
                <a:latin typeface="IBM Plex Sans" pitchFamily="34" charset="0"/>
                <a:ea typeface="IBM Plex Sans" pitchFamily="34" charset="-122"/>
                <a:cs typeface="IBM Plex Sans" pitchFamily="34" charset="-120"/>
              </a:rPr>
              <a:t>K=3 docker compose up</a:t>
            </a:r>
            <a:endParaRPr lang="en-US" sz="3600" dirty="0"/>
          </a:p>
        </p:txBody>
      </p:sp>
      <p:sp>
        <p:nvSpPr>
          <p:cNvPr id="4" name="Shape 2"/>
          <p:cNvSpPr/>
          <p:nvPr/>
        </p:nvSpPr>
        <p:spPr>
          <a:xfrm>
            <a:off x="819150" y="2028192"/>
            <a:ext cx="2899807" cy="1638300"/>
          </a:xfrm>
          <a:prstGeom prst="roundRect">
            <a:avLst>
              <a:gd name="adj" fmla="val 5814"/>
            </a:avLst>
          </a:prstGeom>
          <a:noFill/>
          <a:ln w="12700">
            <a:solidFill>
              <a:srgbClr val="3A4A6B"/>
            </a:solidFill>
            <a:prstDash val="solid"/>
          </a:ln>
        </p:spPr>
      </p:sp>
      <p:sp>
        <p:nvSpPr>
          <p:cNvPr id="5" name="Text 3"/>
          <p:cNvSpPr/>
          <p:nvPr/>
        </p:nvSpPr>
        <p:spPr>
          <a:xfrm>
            <a:off x="1076960" y="2286000"/>
            <a:ext cx="245571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IBM Plex Sans" pitchFamily="34" charset="0"/>
                <a:ea typeface="IBM Plex Sans" pitchFamily="34" charset="-122"/>
                <a:cs typeface="IBM Plex Sans" pitchFamily="34" charset="-120"/>
              </a:rPr>
              <a:t>3 instances</a:t>
            </a:r>
            <a:endParaRPr lang="en-US" sz="1800" dirty="0"/>
          </a:p>
        </p:txBody>
      </p:sp>
      <p:sp>
        <p:nvSpPr>
          <p:cNvPr id="6" name="Text 4"/>
          <p:cNvSpPr/>
          <p:nvPr/>
        </p:nvSpPr>
        <p:spPr>
          <a:xfrm>
            <a:off x="1076960" y="2661927"/>
            <a:ext cx="2455712" cy="756920"/>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BFC8D6"/>
                </a:solidFill>
                <a:latin typeface="JetBrains Mono" pitchFamily="49" charset="0"/>
                <a:ea typeface="JetBrains Mono" pitchFamily="49" charset="-122"/>
                <a:cs typeface="JetBrains Mono" pitchFamily="49" charset="-120"/>
              </a:rPr>
              <a:t>prediction-1 → partition 2</a:t>
            </a:r>
            <a:endParaRPr lang="en-US" sz="1200" dirty="0"/>
          </a:p>
          <a:p>
            <a:pPr marL="0" indent="0" algn="l">
              <a:lnSpc>
                <a:spcPts val="1920"/>
              </a:lnSpc>
              <a:buNone/>
            </a:pPr>
            <a:r>
              <a:rPr lang="en-US" sz="1200" dirty="0">
                <a:solidFill>
                  <a:srgbClr val="BFC8D6"/>
                </a:solidFill>
                <a:latin typeface="JetBrains Mono" pitchFamily="49" charset="0"/>
                <a:ea typeface="JetBrains Mono" pitchFamily="49" charset="-122"/>
                <a:cs typeface="JetBrains Mono" pitchFamily="49" charset="-120"/>
              </a:rPr>
              <a:t>prediction-2 → partition 0</a:t>
            </a:r>
            <a:endParaRPr lang="en-US" sz="1200" dirty="0"/>
          </a:p>
          <a:p>
            <a:pPr marL="0" indent="0" algn="l">
              <a:lnSpc>
                <a:spcPts val="1920"/>
              </a:lnSpc>
              <a:buNone/>
            </a:pPr>
            <a:r>
              <a:rPr lang="en-US" sz="1200" dirty="0">
                <a:solidFill>
                  <a:srgbClr val="BFC8D6"/>
                </a:solidFill>
                <a:latin typeface="JetBrains Mono" pitchFamily="49" charset="0"/>
                <a:ea typeface="JetBrains Mono" pitchFamily="49" charset="-122"/>
                <a:cs typeface="JetBrains Mono" pitchFamily="49" charset="-120"/>
              </a:rPr>
              <a:t>prediction-3 → partition 1</a:t>
            </a:r>
            <a:endParaRPr lang="en-US" sz="1200" dirty="0"/>
          </a:p>
        </p:txBody>
      </p:sp>
      <p:pic>
        <p:nvPicPr>
          <p:cNvPr id="7" name="Image 0" descr="arrow-right"/>
          <p:cNvPicPr>
            <a:picLocks noChangeAspect="1"/>
          </p:cNvPicPr>
          <p:nvPr/>
        </p:nvPicPr>
        <p:blipFill>
          <a:blip r:embed="rId3"/>
          <a:srcRect/>
          <a:stretch/>
        </p:blipFill>
        <p:spPr>
          <a:xfrm>
            <a:off x="3928507" y="2720342"/>
            <a:ext cx="508000" cy="254000"/>
          </a:xfrm>
          <a:prstGeom prst="rect">
            <a:avLst/>
          </a:prstGeom>
        </p:spPr>
      </p:pic>
      <p:sp>
        <p:nvSpPr>
          <p:cNvPr id="8" name="Shape 5"/>
          <p:cNvSpPr/>
          <p:nvPr/>
        </p:nvSpPr>
        <p:spPr>
          <a:xfrm>
            <a:off x="4646057" y="2028192"/>
            <a:ext cx="2899886" cy="1638300"/>
          </a:xfrm>
          <a:prstGeom prst="roundRect">
            <a:avLst>
              <a:gd name="adj" fmla="val 5814"/>
            </a:avLst>
          </a:prstGeom>
          <a:noFill/>
          <a:ln w="12700">
            <a:solidFill>
              <a:srgbClr val="3A4A6B"/>
            </a:solidFill>
            <a:prstDash val="solid"/>
          </a:ln>
        </p:spPr>
      </p:sp>
      <p:sp>
        <p:nvSpPr>
          <p:cNvPr id="9" name="Text 6"/>
          <p:cNvSpPr/>
          <p:nvPr/>
        </p:nvSpPr>
        <p:spPr>
          <a:xfrm>
            <a:off x="4903867" y="2286000"/>
            <a:ext cx="245579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IBM Plex Sans" pitchFamily="34" charset="0"/>
                <a:ea typeface="IBM Plex Sans" pitchFamily="34" charset="-122"/>
                <a:cs typeface="IBM Plex Sans" pitchFamily="34" charset="-120"/>
              </a:rPr>
              <a:t>2 arrêtées</a:t>
            </a:r>
            <a:endParaRPr lang="en-US" sz="1800" dirty="0"/>
          </a:p>
        </p:txBody>
      </p:sp>
      <p:sp>
        <p:nvSpPr>
          <p:cNvPr id="10" name="Text 7"/>
          <p:cNvSpPr/>
          <p:nvPr/>
        </p:nvSpPr>
        <p:spPr>
          <a:xfrm>
            <a:off x="4903867" y="2661927"/>
            <a:ext cx="2455794"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6"/>
                </a:solidFill>
                <a:latin typeface="IBM Plex Sans" pitchFamily="34" charset="0"/>
                <a:ea typeface="IBM Plex Sans" pitchFamily="34" charset="-122"/>
                <a:cs typeface="IBM Plex Sans" pitchFamily="34" charset="-120"/>
              </a:rPr>
              <a:t>Rééquilibrage d'environ 10 s, le LAG monte pendant ce temps</a:t>
            </a:r>
            <a:endParaRPr lang="en-US" sz="1400" dirty="0"/>
          </a:p>
        </p:txBody>
      </p:sp>
      <p:pic>
        <p:nvPicPr>
          <p:cNvPr id="11" name="Image 1" descr="arrow-right"/>
          <p:cNvPicPr>
            <a:picLocks noChangeAspect="1"/>
          </p:cNvPicPr>
          <p:nvPr/>
        </p:nvPicPr>
        <p:blipFill>
          <a:blip r:embed="rId3"/>
          <a:srcRect/>
          <a:stretch/>
        </p:blipFill>
        <p:spPr>
          <a:xfrm>
            <a:off x="7755493" y="2720342"/>
            <a:ext cx="508000" cy="254000"/>
          </a:xfrm>
          <a:prstGeom prst="rect">
            <a:avLst/>
          </a:prstGeom>
        </p:spPr>
      </p:pic>
      <p:sp>
        <p:nvSpPr>
          <p:cNvPr id="12" name="Shape 8"/>
          <p:cNvSpPr/>
          <p:nvPr/>
        </p:nvSpPr>
        <p:spPr>
          <a:xfrm>
            <a:off x="8473043" y="2028192"/>
            <a:ext cx="2899807" cy="1638300"/>
          </a:xfrm>
          <a:prstGeom prst="roundRect">
            <a:avLst>
              <a:gd name="adj" fmla="val 5814"/>
            </a:avLst>
          </a:prstGeom>
          <a:noFill/>
          <a:ln w="12700">
            <a:solidFill>
              <a:srgbClr val="3A4A6B"/>
            </a:solidFill>
            <a:prstDash val="solid"/>
          </a:ln>
        </p:spPr>
      </p:sp>
      <p:sp>
        <p:nvSpPr>
          <p:cNvPr id="13" name="Text 9"/>
          <p:cNvSpPr/>
          <p:nvPr/>
        </p:nvSpPr>
        <p:spPr>
          <a:xfrm>
            <a:off x="8730853" y="2286000"/>
            <a:ext cx="245571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IBM Plex Sans" pitchFamily="34" charset="0"/>
                <a:ea typeface="IBM Plex Sans" pitchFamily="34" charset="-122"/>
                <a:cs typeface="IBM Plex Sans" pitchFamily="34" charset="-120"/>
              </a:rPr>
              <a:t>1 seule</a:t>
            </a:r>
            <a:endParaRPr lang="en-US" sz="1800" dirty="0"/>
          </a:p>
        </p:txBody>
      </p:sp>
      <p:sp>
        <p:nvSpPr>
          <p:cNvPr id="14" name="Text 10"/>
          <p:cNvSpPr/>
          <p:nvPr/>
        </p:nvSpPr>
        <p:spPr>
          <a:xfrm>
            <a:off x="8730853" y="2661927"/>
            <a:ext cx="2455712" cy="513080"/>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BFC8D6"/>
                </a:solidFill>
                <a:latin typeface="JetBrains Mono" pitchFamily="49" charset="0"/>
                <a:ea typeface="JetBrains Mono" pitchFamily="49" charset="-122"/>
                <a:cs typeface="JetBrains Mono" pitchFamily="49" charset="-120"/>
              </a:rPr>
              <a:t>prediction-1 →</a:t>
            </a:r>
            <a:endParaRPr lang="en-US" sz="1200" dirty="0"/>
          </a:p>
          <a:p>
            <a:pPr marL="0" indent="0" algn="l">
              <a:lnSpc>
                <a:spcPts val="1920"/>
              </a:lnSpc>
              <a:buNone/>
            </a:pPr>
            <a:r>
              <a:rPr lang="en-US" sz="1200" dirty="0">
                <a:solidFill>
                  <a:srgbClr val="BFC8D6"/>
                </a:solidFill>
                <a:latin typeface="JetBrains Mono" pitchFamily="49" charset="0"/>
                <a:ea typeface="JetBrains Mono" pitchFamily="49" charset="-122"/>
                <a:cs typeface="JetBrains Mono" pitchFamily="49" charset="-120"/>
              </a:rPr>
              <a:t>partitions 0, 1, 2</a:t>
            </a:r>
            <a:endParaRPr lang="en-US" sz="1200" dirty="0"/>
          </a:p>
        </p:txBody>
      </p:sp>
      <p:sp>
        <p:nvSpPr>
          <p:cNvPr id="15" name="Text 11"/>
          <p:cNvSpPr/>
          <p:nvPr/>
        </p:nvSpPr>
        <p:spPr>
          <a:xfrm>
            <a:off x="812800" y="4028442"/>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C8D6"/>
                </a:solidFill>
                <a:latin typeface="IBM Plex Sans" pitchFamily="34" charset="0"/>
                <a:ea typeface="IBM Plex Sans" pitchFamily="34" charset="-122"/>
                <a:cs typeface="IBM Plex Sans" pitchFamily="34" charset="-120"/>
              </a:rPr>
              <a:t>Un générateur envoie une demande toutes les 0,5 s. Le service continue, avec moins de capacité. Limite : </a:t>
            </a:r>
            <a:r>
              <a:rPr lang="en-US" sz="1600" b="1" dirty="0">
                <a:solidFill>
                  <a:srgbClr val="F6F4EF"/>
                </a:solidFill>
                <a:latin typeface="IBM Plex Sans" pitchFamily="34" charset="0"/>
                <a:ea typeface="IBM Plex Sans" pitchFamily="34" charset="-122"/>
                <a:cs typeface="IBM Plex Sans" pitchFamily="34" charset="-120"/>
              </a:rPr>
              <a:t>pas plus d'instances actives que de partitions</a:t>
            </a:r>
            <a:r>
              <a:rPr lang="en-US" sz="1600" dirty="0">
                <a:solidFill>
                  <a:srgbClr val="BFC8D6"/>
                </a:solidFill>
                <a:latin typeface="IBM Plex Sans" pitchFamily="34" charset="0"/>
                <a:ea typeface="IBM Plex Sans" pitchFamily="34" charset="-122"/>
                <a:cs typeface="IBM Plex Sans" pitchFamily="34" charset="-120"/>
              </a:rPr>
              <a:t>.</a:t>
            </a:r>
            <a:endParaRPr lang="en-US" sz="1600" dirty="0"/>
          </a:p>
        </p:txBody>
      </p:sp>
      <p:sp>
        <p:nvSpPr>
          <p:cNvPr id="16" name="Text 1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6AD"/>
                </a:solidFill>
                <a:latin typeface="JetBrains Mono" pitchFamily="49" charset="0"/>
                <a:ea typeface="JetBrains Mono" pitchFamily="49" charset="-122"/>
                <a:cs typeface="JetBrains Mono" pitchFamily="49" charset="-120"/>
              </a:rPr>
              <a:t>TP3 Prédiction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TP3 · RÉSULTATS OBTENUS</a:t>
            </a:r>
            <a:endParaRPr lang="en-US" sz="1400" dirty="0"/>
          </a:p>
        </p:txBody>
      </p:sp>
      <p:sp>
        <p:nvSpPr>
          <p:cNvPr id="3" name="Text 1"/>
          <p:cNvSpPr>
            <a:spLocks noGrp="1"/>
          </p:cNvSpPr>
          <p:nvPr>
            <p:ph type="title"/>
          </p:nvPr>
        </p:nvSpPr>
        <p:spPr>
          <a:xfrm>
            <a:off x="812800" y="1163327"/>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De 3 instances à une seule</a:t>
            </a:r>
            <a:endParaRPr lang="en-US" sz="3200" dirty="0"/>
          </a:p>
        </p:txBody>
      </p:sp>
      <p:sp>
        <p:nvSpPr>
          <p:cNvPr id="4" name="Shape 2"/>
          <p:cNvSpPr/>
          <p:nvPr/>
        </p:nvSpPr>
        <p:spPr>
          <a:xfrm>
            <a:off x="812800" y="1813558"/>
            <a:ext cx="2006600" cy="2286000"/>
          </a:xfrm>
          <a:prstGeom prst="roundRect">
            <a:avLst>
              <a:gd name="adj" fmla="val 3797"/>
            </a:avLst>
          </a:prstGeom>
          <a:solidFill>
            <a:srgbClr val="0C0C0C"/>
          </a:solidFill>
          <a:ln/>
        </p:spPr>
      </p:sp>
      <p:pic>
        <p:nvPicPr>
          <p:cNvPr id="5" name="Image 0" descr="Logs avec K=3 : prediction-1, prediction-2 et prediction-3 traitent chacune leur partition"/>
          <p:cNvPicPr>
            <a:picLocks noChangeAspect="1"/>
          </p:cNvPicPr>
          <p:nvPr/>
        </p:nvPicPr>
        <p:blipFill>
          <a:blip r:embed="rId3"/>
          <a:srcRect t="-49" b="-49"/>
          <a:stretch/>
        </p:blipFill>
        <p:spPr>
          <a:xfrm>
            <a:off x="812800" y="1813558"/>
            <a:ext cx="2006600" cy="2286000"/>
          </a:xfrm>
          <a:prstGeom prst="roundRect">
            <a:avLst>
              <a:gd name="adj" fmla="val 3797"/>
            </a:avLst>
          </a:prstGeom>
        </p:spPr>
      </p:pic>
      <p:sp>
        <p:nvSpPr>
          <p:cNvPr id="6" name="Shape 3"/>
          <p:cNvSpPr/>
          <p:nvPr/>
        </p:nvSpPr>
        <p:spPr>
          <a:xfrm>
            <a:off x="3073400" y="1813558"/>
            <a:ext cx="3346450" cy="2286000"/>
          </a:xfrm>
          <a:prstGeom prst="roundRect">
            <a:avLst>
              <a:gd name="adj" fmla="val 3333"/>
            </a:avLst>
          </a:prstGeom>
          <a:solidFill>
            <a:srgbClr val="0C0C0C"/>
          </a:solidFill>
          <a:ln/>
        </p:spPr>
      </p:sp>
      <p:pic>
        <p:nvPicPr>
          <p:cNvPr id="7" name="Image 1" descr="Logs après l'arrêt de deux instances : seule prediction-1 traite les partitions 0, 1 et 2"/>
          <p:cNvPicPr>
            <a:picLocks noChangeAspect="1"/>
          </p:cNvPicPr>
          <p:nvPr/>
        </p:nvPicPr>
        <p:blipFill>
          <a:blip r:embed="rId4"/>
          <a:srcRect t="-18" b="-18"/>
          <a:stretch/>
        </p:blipFill>
        <p:spPr>
          <a:xfrm>
            <a:off x="3073400" y="1813558"/>
            <a:ext cx="3346450" cy="2286000"/>
          </a:xfrm>
          <a:prstGeom prst="roundRect">
            <a:avLst>
              <a:gd name="adj" fmla="val 3333"/>
            </a:avLst>
          </a:prstGeom>
        </p:spPr>
      </p:pic>
      <p:sp>
        <p:nvSpPr>
          <p:cNvPr id="8" name="Text 4"/>
          <p:cNvSpPr/>
          <p:nvPr/>
        </p:nvSpPr>
        <p:spPr>
          <a:xfrm>
            <a:off x="6673850" y="1813558"/>
            <a:ext cx="4846511"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K = 3 :</a:t>
            </a:r>
            <a:r>
              <a:rPr lang="en-US" sz="1300" dirty="0">
                <a:solidFill>
                  <a:srgbClr val="4A5568"/>
                </a:solidFill>
                <a:latin typeface="IBM Plex Sans" pitchFamily="34" charset="0"/>
                <a:ea typeface="IBM Plex Sans" pitchFamily="34" charset="-122"/>
                <a:cs typeface="IBM Plex Sans" pitchFamily="34" charset="-120"/>
              </a:rPr>
              <a:t> chaque instance a sa partition.</a:t>
            </a:r>
            <a:endParaRPr lang="en-US" sz="1300" dirty="0"/>
          </a:p>
        </p:txBody>
      </p:sp>
      <p:sp>
        <p:nvSpPr>
          <p:cNvPr id="9" name="Text 5"/>
          <p:cNvSpPr/>
          <p:nvPr/>
        </p:nvSpPr>
        <p:spPr>
          <a:xfrm>
            <a:off x="6673850" y="2197100"/>
            <a:ext cx="4846511"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2 arrêtées :</a:t>
            </a:r>
            <a:r>
              <a:rPr lang="en-US" sz="1300" dirty="0">
                <a:solidFill>
                  <a:srgbClr val="4A5568"/>
                </a:solidFill>
                <a:latin typeface="IBM Plex Sans" pitchFamily="34" charset="0"/>
                <a:ea typeface="IBM Plex Sans" pitchFamily="34" charset="-122"/>
                <a:cs typeface="IBM Plex Sans" pitchFamily="34" charset="-120"/>
              </a:rPr>
              <a:t> prediction-1 traite les 3 partitions.</a:t>
            </a:r>
            <a:endParaRPr lang="en-US" sz="1300" dirty="0"/>
          </a:p>
        </p:txBody>
      </p:sp>
      <p:sp>
        <p:nvSpPr>
          <p:cNvPr id="10" name="Text 6"/>
          <p:cNvSpPr/>
          <p:nvPr/>
        </p:nvSpPr>
        <p:spPr>
          <a:xfrm>
            <a:off x="6673850" y="2580642"/>
            <a:ext cx="4846511"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En dessous :</a:t>
            </a:r>
            <a:r>
              <a:rPr lang="en-US" sz="1300" dirty="0">
                <a:solidFill>
                  <a:srgbClr val="4A5568"/>
                </a:solidFill>
                <a:latin typeface="IBM Plex Sans" pitchFamily="34" charset="0"/>
                <a:ea typeface="IBM Plex Sans" pitchFamily="34" charset="-122"/>
                <a:cs typeface="IBM Plex Sans" pitchFamily="34" charset="-120"/>
              </a:rPr>
              <a:t> un seul consommateur, LAG proche de 0.</a:t>
            </a:r>
            <a:endParaRPr lang="en-US" sz="1300" dirty="0"/>
          </a:p>
        </p:txBody>
      </p:sp>
      <p:sp>
        <p:nvSpPr>
          <p:cNvPr id="11" name="Shape 7"/>
          <p:cNvSpPr/>
          <p:nvPr/>
        </p:nvSpPr>
        <p:spPr>
          <a:xfrm>
            <a:off x="812800" y="4302758"/>
            <a:ext cx="10566400" cy="1168400"/>
          </a:xfrm>
          <a:prstGeom prst="roundRect">
            <a:avLst>
              <a:gd name="adj" fmla="val 6522"/>
            </a:avLst>
          </a:prstGeom>
          <a:solidFill>
            <a:srgbClr val="0C0C0C"/>
          </a:solidFill>
          <a:ln/>
        </p:spPr>
      </p:sp>
      <p:pic>
        <p:nvPicPr>
          <p:cNvPr id="12" name="Image 2" descr="describe du groupe prediction-group après l'arrêt : le même CONSUMER-ID sur les 3 partitions, LAG 0, 2 et 1"/>
          <p:cNvPicPr>
            <a:picLocks noChangeAspect="1"/>
          </p:cNvPicPr>
          <p:nvPr/>
        </p:nvPicPr>
        <p:blipFill>
          <a:blip r:embed="rId5"/>
          <a:srcRect l="-94" r="-94"/>
          <a:stretch/>
        </p:blipFill>
        <p:spPr>
          <a:xfrm>
            <a:off x="812800" y="4302758"/>
            <a:ext cx="10566400" cy="1168400"/>
          </a:xfrm>
          <a:prstGeom prst="roundRect">
            <a:avLst>
              <a:gd name="adj" fmla="val 6522"/>
            </a:avLst>
          </a:prstGeom>
        </p:spPr>
      </p:pic>
      <p:sp>
        <p:nvSpPr>
          <p:cNvPr id="13" name="Text 8"/>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TP3 Prédiction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BILAN</a:t>
            </a:r>
            <a:endParaRPr lang="en-US" sz="1400" dirty="0"/>
          </a:p>
        </p:txBody>
      </p:sp>
      <p:sp>
        <p:nvSpPr>
          <p:cNvPr id="3" name="Text 1"/>
          <p:cNvSpPr>
            <a:spLocks noGrp="1"/>
          </p:cNvSpPr>
          <p:nvPr>
            <p:ph type="title"/>
          </p:nvPr>
        </p:nvSpPr>
        <p:spPr>
          <a:xfrm>
            <a:off x="812800" y="1163327"/>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REST ou Kafka : ce qu'on a observé</a:t>
            </a:r>
            <a:endParaRPr lang="en-US" sz="3600" dirty="0"/>
          </a:p>
        </p:txBody>
      </p:sp>
      <p:sp>
        <p:nvSpPr>
          <p:cNvPr id="4" name="Shape 2"/>
          <p:cNvSpPr/>
          <p:nvPr/>
        </p:nvSpPr>
        <p:spPr>
          <a:xfrm>
            <a:off x="812800" y="2026922"/>
            <a:ext cx="10566400" cy="0"/>
          </a:xfrm>
          <a:prstGeom prst="line">
            <a:avLst/>
          </a:prstGeom>
          <a:noFill/>
          <a:ln w="10160">
            <a:solidFill>
              <a:srgbClr val="141413">
                <a:alpha val="22000"/>
              </a:srgbClr>
            </a:solidFill>
            <a:prstDash val="solid"/>
          </a:ln>
        </p:spPr>
      </p:sp>
      <p:sp>
        <p:nvSpPr>
          <p:cNvPr id="5" name="Shape 3"/>
          <p:cNvSpPr/>
          <p:nvPr/>
        </p:nvSpPr>
        <p:spPr>
          <a:xfrm>
            <a:off x="817880" y="2021842"/>
            <a:ext cx="0" cy="311023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5360" y="2146302"/>
          <a:ext cx="10251439" cy="2871470"/>
        </p:xfrm>
        <a:graphic>
          <a:graphicData uri="http://schemas.openxmlformats.org/drawingml/2006/table">
            <a:tbl>
              <a:tblPr/>
              <a:tblGrid>
                <a:gridCol w="2870403">
                  <a:extLst>
                    <a:ext uri="{9D8B030D-6E8A-4147-A177-3AD203B41FA5}">
                      <a16:colId xmlns:a16="http://schemas.microsoft.com/office/drawing/2014/main" val="20000"/>
                    </a:ext>
                  </a:extLst>
                </a:gridCol>
                <a:gridCol w="3690518">
                  <a:extLst>
                    <a:ext uri="{9D8B030D-6E8A-4147-A177-3AD203B41FA5}">
                      <a16:colId xmlns:a16="http://schemas.microsoft.com/office/drawing/2014/main" val="20001"/>
                    </a:ext>
                  </a:extLst>
                </a:gridCol>
                <a:gridCol w="3690518">
                  <a:extLst>
                    <a:ext uri="{9D8B030D-6E8A-4147-A177-3AD203B41FA5}">
                      <a16:colId xmlns:a16="http://schemas.microsoft.com/office/drawing/2014/main" val="20002"/>
                    </a:ext>
                  </a:extLst>
                </a:gridCol>
              </a:tblGrid>
              <a:tr h="410210">
                <a:tc>
                  <a:txBody>
                    <a:bodyPr/>
                    <a:lstStyle/>
                    <a:p>
                      <a:pPr marL="0" indent="0">
                        <a:lnSpc>
                          <a:spcPts val="2100"/>
                        </a:lnSpc>
                        <a:buNone/>
                      </a:pP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REST (TP1)</a:t>
                      </a:r>
                      <a:endParaRPr lang="en-US" sz="1500" dirty="0">
                        <a:latin typeface="IBM Plex Sans" charset="0"/>
                        <a:ea typeface="IBM Plex Sans" charset="0"/>
                        <a:cs typeface="IBM Plex Sans"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Kafka (TP2, TP3)</a:t>
                      </a:r>
                      <a:endParaRPr lang="en-US" sz="1500" dirty="0">
                        <a:latin typeface="IBM Plex Sans" charset="0"/>
                        <a:ea typeface="IBM Plex Sans" charset="0"/>
                        <a:cs typeface="IBM Plex Sans"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0" cap="flat" cmpd="sng" algn="ctr">
                      <a:noFill/>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Couplage</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commandes connaît clients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Personne ne se connaît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Réponse</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FBC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Immédiate et complète</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Différée (202, résultat plus tard)</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Si un service tombe</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3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Erreur 503</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Messages gardés, rattrapés après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Ajouter un service</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FBC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Modifier l'appelant</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Nouveau groupe, rien à changer</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41021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Passer à l'échelle</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4C3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Répartiteur de charge à ajouter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K instances, limité aux partitions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FBC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r h="41021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Complexité</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FBC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Simple à lire et déboguer</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Un broker à faire tourner</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4"/>
                      </a:solidFill>
                      <a:prstDash val="solid"/>
                      <a:round/>
                      <a:headEnd type="none" w="med" len="med"/>
                      <a:tailEnd type="none" w="med" len="med"/>
                    </a:lnL>
                    <a:lnR w="12700" cap="flat" cmpd="sng" algn="ctr">
                      <a:solidFill>
                        <a:srgbClr val="BFBC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FBCB4"/>
                      </a:solidFill>
                      <a:prstDash val="solid"/>
                      <a:round/>
                      <a:headEnd type="none" w="med" len="med"/>
                      <a:tailEnd type="none" w="med" len="med"/>
                    </a:lnB>
                    <a:solidFill>
                      <a:srgbClr val="EFEBE2"/>
                    </a:solidFill>
                  </a:tcPr>
                </a:tc>
                <a:extLst>
                  <a:ext uri="{0D108BD9-81ED-4DB2-BD59-A6C34878D82A}">
                    <a16:rowId xmlns:a16="http://schemas.microsoft.com/office/drawing/2014/main" val="10006"/>
                  </a:ext>
                </a:extLst>
              </a:tr>
            </a:tbl>
          </a:graphicData>
        </a:graphic>
      </p:graphicFrame>
      <p:sp>
        <p:nvSpPr>
          <p:cNvPr id="7" name="Text 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Bilan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5501F"/>
                </a:solidFill>
                <a:latin typeface="JetBrains Mono" pitchFamily="49" charset="0"/>
                <a:ea typeface="JetBrains Mono" pitchFamily="49" charset="-122"/>
                <a:cs typeface="JetBrains Mono" pitchFamily="49" charset="-120"/>
              </a:rPr>
              <a:t>LIMITES ET PISTES</a:t>
            </a:r>
            <a:endParaRPr lang="en-US" sz="1400" dirty="0"/>
          </a:p>
        </p:txBody>
      </p:sp>
      <p:sp>
        <p:nvSpPr>
          <p:cNvPr id="3" name="Text 1"/>
          <p:cNvSpPr>
            <a:spLocks noGrp="1"/>
          </p:cNvSpPr>
          <p:nvPr>
            <p:ph type="title"/>
          </p:nvPr>
        </p:nvSpPr>
        <p:spPr>
          <a:xfrm>
            <a:off x="812800" y="1163327"/>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Ce qu'on améliorerait</a:t>
            </a:r>
            <a:endParaRPr lang="en-US" sz="3600" dirty="0"/>
          </a:p>
        </p:txBody>
      </p:sp>
      <p:sp>
        <p:nvSpPr>
          <p:cNvPr id="4" name="Shape 2"/>
          <p:cNvSpPr/>
          <p:nvPr/>
        </p:nvSpPr>
        <p:spPr>
          <a:xfrm>
            <a:off x="819150" y="2028192"/>
            <a:ext cx="5168900" cy="1363980"/>
          </a:xfrm>
          <a:prstGeom prst="roundRect">
            <a:avLst>
              <a:gd name="adj" fmla="val 6983"/>
            </a:avLst>
          </a:prstGeom>
          <a:solidFill>
            <a:srgbClr val="FDFCF9"/>
          </a:solidFill>
          <a:ln w="12700">
            <a:solidFill>
              <a:srgbClr val="D9D4C7"/>
            </a:solidFill>
            <a:prstDash val="solid"/>
          </a:ln>
        </p:spPr>
      </p:sp>
      <p:sp>
        <p:nvSpPr>
          <p:cNvPr id="5" name="Text 3"/>
          <p:cNvSpPr/>
          <p:nvPr/>
        </p:nvSpPr>
        <p:spPr>
          <a:xfrm>
            <a:off x="1076960" y="2286000"/>
            <a:ext cx="479287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Données en mémoire</a:t>
            </a:r>
            <a:endParaRPr lang="en-US" sz="1800" dirty="0"/>
          </a:p>
        </p:txBody>
      </p:sp>
      <p:sp>
        <p:nvSpPr>
          <p:cNvPr id="6" name="Text 4"/>
          <p:cNvSpPr/>
          <p:nvPr/>
        </p:nvSpPr>
        <p:spPr>
          <a:xfrm>
            <a:off x="1076960" y="2636527"/>
            <a:ext cx="479287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Les compteurs repartent de zéro au redémarrage. Une base de données réglerait ça.</a:t>
            </a:r>
            <a:endParaRPr lang="en-US" sz="1400" dirty="0"/>
          </a:p>
        </p:txBody>
      </p:sp>
      <p:sp>
        <p:nvSpPr>
          <p:cNvPr id="7" name="Shape 5"/>
          <p:cNvSpPr/>
          <p:nvPr/>
        </p:nvSpPr>
        <p:spPr>
          <a:xfrm>
            <a:off x="6203950" y="2028192"/>
            <a:ext cx="5168900" cy="1363980"/>
          </a:xfrm>
          <a:prstGeom prst="roundRect">
            <a:avLst>
              <a:gd name="adj" fmla="val 6983"/>
            </a:avLst>
          </a:prstGeom>
          <a:solidFill>
            <a:srgbClr val="FDFCF9"/>
          </a:solidFill>
          <a:ln w="12700">
            <a:solidFill>
              <a:srgbClr val="D9D4C7"/>
            </a:solidFill>
            <a:prstDash val="solid"/>
          </a:ln>
        </p:spPr>
      </p:sp>
      <p:sp>
        <p:nvSpPr>
          <p:cNvPr id="8" name="Text 6"/>
          <p:cNvSpPr/>
          <p:nvPr/>
        </p:nvSpPr>
        <p:spPr>
          <a:xfrm>
            <a:off x="6461760" y="2286000"/>
            <a:ext cx="479287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Données simulées</a:t>
            </a:r>
            <a:endParaRPr lang="en-US" sz="1800" dirty="0"/>
          </a:p>
        </p:txBody>
      </p:sp>
      <p:sp>
        <p:nvSpPr>
          <p:cNvPr id="9" name="Text 7"/>
          <p:cNvSpPr/>
          <p:nvPr/>
        </p:nvSpPr>
        <p:spPr>
          <a:xfrm>
            <a:off x="6461760" y="2636527"/>
            <a:ext cx="479287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Le modèle n'a pas vu de vrais clients : ses scores ne valent que pour nos données.</a:t>
            </a:r>
            <a:endParaRPr lang="en-US" sz="1400" dirty="0"/>
          </a:p>
        </p:txBody>
      </p:sp>
      <p:sp>
        <p:nvSpPr>
          <p:cNvPr id="10" name="Shape 8"/>
          <p:cNvSpPr/>
          <p:nvPr/>
        </p:nvSpPr>
        <p:spPr>
          <a:xfrm>
            <a:off x="819150" y="3608077"/>
            <a:ext cx="5168900" cy="1363980"/>
          </a:xfrm>
          <a:prstGeom prst="roundRect">
            <a:avLst>
              <a:gd name="adj" fmla="val 6983"/>
            </a:avLst>
          </a:prstGeom>
          <a:solidFill>
            <a:srgbClr val="FDFCF9"/>
          </a:solidFill>
          <a:ln w="12700">
            <a:solidFill>
              <a:srgbClr val="D9D4C7"/>
            </a:solidFill>
            <a:prstDash val="solid"/>
          </a:ln>
        </p:spPr>
      </p:sp>
      <p:sp>
        <p:nvSpPr>
          <p:cNvPr id="11" name="Text 9"/>
          <p:cNvSpPr/>
          <p:nvPr/>
        </p:nvSpPr>
        <p:spPr>
          <a:xfrm>
            <a:off x="1076960" y="3865885"/>
            <a:ext cx="479287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Au moins une fois</a:t>
            </a:r>
            <a:endParaRPr lang="en-US" sz="1800" dirty="0"/>
          </a:p>
        </p:txBody>
      </p:sp>
      <p:sp>
        <p:nvSpPr>
          <p:cNvPr id="12" name="Text 10"/>
          <p:cNvSpPr/>
          <p:nvPr/>
        </p:nvSpPr>
        <p:spPr>
          <a:xfrm>
            <a:off x="1076960" y="4216400"/>
            <a:ext cx="479287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Après une panne, quelques messages peuvent être traités deux fois.</a:t>
            </a:r>
            <a:endParaRPr lang="en-US" sz="1400" dirty="0"/>
          </a:p>
        </p:txBody>
      </p:sp>
      <p:sp>
        <p:nvSpPr>
          <p:cNvPr id="13" name="Shape 11"/>
          <p:cNvSpPr/>
          <p:nvPr/>
        </p:nvSpPr>
        <p:spPr>
          <a:xfrm>
            <a:off x="6203950" y="3608077"/>
            <a:ext cx="5168900" cy="1363980"/>
          </a:xfrm>
          <a:prstGeom prst="roundRect">
            <a:avLst>
              <a:gd name="adj" fmla="val 6983"/>
            </a:avLst>
          </a:prstGeom>
          <a:solidFill>
            <a:srgbClr val="FDFCF9"/>
          </a:solidFill>
          <a:ln w="12700">
            <a:solidFill>
              <a:srgbClr val="D9D4C7"/>
            </a:solidFill>
            <a:prstDash val="solid"/>
          </a:ln>
        </p:spPr>
      </p:sp>
      <p:sp>
        <p:nvSpPr>
          <p:cNvPr id="14" name="Text 12"/>
          <p:cNvSpPr/>
          <p:nvPr/>
        </p:nvSpPr>
        <p:spPr>
          <a:xfrm>
            <a:off x="6461760" y="3865885"/>
            <a:ext cx="479287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Mise à l'échelle manuelle</a:t>
            </a:r>
            <a:endParaRPr lang="en-US" sz="1800" dirty="0"/>
          </a:p>
        </p:txBody>
      </p:sp>
      <p:sp>
        <p:nvSpPr>
          <p:cNvPr id="15" name="Text 13"/>
          <p:cNvSpPr/>
          <p:nvPr/>
        </p:nvSpPr>
        <p:spPr>
          <a:xfrm>
            <a:off x="6461760" y="4216400"/>
            <a:ext cx="479287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K est fixé à la main. Kubernetes pourrait l'ajuster selon le LAG.</a:t>
            </a:r>
            <a:endParaRPr lang="en-US" sz="14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JetBrains Mono" pitchFamily="49" charset="0"/>
                <a:ea typeface="JetBrains Mono" pitchFamily="49" charset="-122"/>
                <a:cs typeface="JetBrains Mono" pitchFamily="49" charset="-120"/>
              </a:rPr>
              <a:t>Bilan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1625600" y="2807258"/>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4EF"/>
                </a:solidFill>
                <a:latin typeface="IBM Plex Sans" pitchFamily="34" charset="0"/>
                <a:ea typeface="IBM Plex Sans" pitchFamily="34" charset="-122"/>
                <a:cs typeface="IBM Plex Sans" pitchFamily="34" charset="-120"/>
              </a:rPr>
              <a:t>MERCI</a:t>
            </a:r>
            <a:endParaRPr lang="en-US" sz="6000" dirty="0"/>
          </a:p>
        </p:txBody>
      </p:sp>
      <p:sp>
        <p:nvSpPr>
          <p:cNvPr id="3" name="Text 1"/>
          <p:cNvSpPr/>
          <p:nvPr/>
        </p:nvSpPr>
        <p:spPr>
          <a:xfrm>
            <a:off x="812800" y="5759450"/>
            <a:ext cx="1399413" cy="31115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4EF"/>
                </a:solidFill>
                <a:latin typeface="IBM Plex Sans" pitchFamily="34" charset="0"/>
                <a:ea typeface="IBM Plex Sans" pitchFamily="34" charset="-122"/>
                <a:cs typeface="IBM Plex Sans" pitchFamily="34" charset="-120"/>
              </a:rPr>
              <a:t>Asma Yazidi</a:t>
            </a:r>
            <a:endParaRPr lang="en-US" sz="1600" dirty="0"/>
          </a:p>
        </p:txBody>
      </p:sp>
      <p:sp>
        <p:nvSpPr>
          <p:cNvPr id="4" name="Text 2"/>
          <p:cNvSpPr/>
          <p:nvPr/>
        </p:nvSpPr>
        <p:spPr>
          <a:xfrm>
            <a:off x="2385377" y="5759450"/>
            <a:ext cx="2057305" cy="31115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4EF"/>
                </a:solidFill>
                <a:latin typeface="IBM Plex Sans" pitchFamily="34" charset="0"/>
                <a:ea typeface="IBM Plex Sans" pitchFamily="34" charset="-122"/>
                <a:cs typeface="IBM Plex Sans" pitchFamily="34" charset="-120"/>
              </a:rPr>
              <a:t>Emma Dos Santos</a:t>
            </a:r>
            <a:endParaRPr lang="en-US" sz="1600" dirty="0"/>
          </a:p>
        </p:txBody>
      </p:sp>
      <p:sp>
        <p:nvSpPr>
          <p:cNvPr id="5" name="Text 3"/>
          <p:cNvSpPr/>
          <p:nvPr/>
        </p:nvSpPr>
        <p:spPr>
          <a:xfrm>
            <a:off x="1625600" y="3874852"/>
            <a:ext cx="10883392"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FC8D6"/>
                </a:solidFill>
                <a:latin typeface="IBM Plex Sans" pitchFamily="34" charset="0"/>
                <a:ea typeface="IBM Plex Sans" pitchFamily="34" charset="-122"/>
                <a:cs typeface="IBM Plex Sans" pitchFamily="34" charset="-120"/>
              </a:rPr>
              <a:t>Code et rapports des trois TP dans le dépôt GitHub du projet</a:t>
            </a:r>
            <a:endParaRPr lang="en-US" sz="2000" dirty="0"/>
          </a:p>
        </p:txBody>
      </p:sp>
    </p:spTree>
  </p:cSld>
  <p:clrMapOvr>
    <a:masterClrMapping/>
  </p:clrMapOvr>
</p:sld>
</file>

<file path=ppt/theme/theme1.xml><?xml version="1.0" encoding="utf-8"?>
<a:theme xmlns:a="http://schemas.openxmlformats.org/drawingml/2006/main" name="Microservices : REST, Kafka et prédiction ML">
  <a:themeElements>
    <a:clrScheme name="Microservices : REST, Kafka et prédiction ML">
      <a:dk1>
        <a:srgbClr val="14213D"/>
      </a:dk1>
      <a:lt1>
        <a:srgbClr val="F6F4EF"/>
      </a:lt1>
      <a:dk2>
        <a:srgbClr val="4D566A"/>
      </a:dk2>
      <a:lt2>
        <a:srgbClr val="DFDFDD"/>
      </a:lt2>
      <a:accent1>
        <a:srgbClr val="B5501F"/>
      </a:accent1>
      <a:accent2>
        <a:srgbClr val="F2A65A"/>
      </a:accent2>
      <a:accent3>
        <a:srgbClr val="2F6690"/>
      </a:accent3>
      <a:accent4>
        <a:srgbClr val="4A5568"/>
      </a:accent4>
      <a:accent5>
        <a:srgbClr val="6B7280"/>
      </a:accent5>
      <a:accent6>
        <a:srgbClr val="BFC8D6"/>
      </a:accent6>
      <a:hlink>
        <a:srgbClr val="0563C1"/>
      </a:hlink>
      <a:folHlink>
        <a:srgbClr val="954F72"/>
      </a:folHlink>
    </a:clrScheme>
    <a:fontScheme name="Microservices : REST, Kafka et prédiction M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2070</TotalTime>
  <Words>3019</Words>
  <Application>Microsoft Office PowerPoint</Application>
  <PresentationFormat>Grand écran</PresentationFormat>
  <Paragraphs>263</Paragraphs>
  <Slides>22</Slides>
  <Notes>22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22</vt:i4>
      </vt:variant>
    </vt:vector>
  </HeadingPairs>
  <TitlesOfParts>
    <vt:vector size="27" baseType="lpstr">
      <vt:lpstr>Arial</vt:lpstr>
      <vt:lpstr>Calibri</vt:lpstr>
      <vt:lpstr>IBM Plex Sans</vt:lpstr>
      <vt:lpstr>JetBrains Mono</vt:lpstr>
      <vt:lpstr>Microservices : REST, Kafka et prédiction ML</vt:lpstr>
      <vt:lpstr>REST, Kafka et prédiction ML</vt:lpstr>
      <vt:lpstr>Une même application, trois architectures</vt:lpstr>
      <vt:lpstr>TP1</vt:lpstr>
      <vt:lpstr>commandes appelle clients et attend</vt:lpstr>
      <vt:lpstr>Si clients tombe, commandes ne répond plus</vt:lpstr>
      <vt:lpstr>Dans le terminal</vt:lpstr>
      <vt:lpstr>TP2</vt:lpstr>
      <vt:lpstr>Les services ne se connaissent plus</vt:lpstr>
      <vt:lpstr>Un événement = une commande créée</vt:lpstr>
      <vt:lpstr>Aucun message perdu</vt:lpstr>
      <vt:lpstr>Le LAG avant et après le redémarrage</vt:lpstr>
      <vt:lpstr>Répartis dans un groupe, dupliqués entre groupes</vt:lpstr>
      <vt:lpstr>Même groupe ou groupes différents</vt:lpstr>
      <vt:lpstr>TP3</vt:lpstr>
      <vt:lpstr>Un aller-retour par Kafka</vt:lpstr>
      <vt:lpstr>Random Forest sur données simulées</vt:lpstr>
      <vt:lpstr>Entraînement et prédictions</vt:lpstr>
      <vt:lpstr>K=3 docker compose up</vt:lpstr>
      <vt:lpstr>De 3 instances à une seule</vt:lpstr>
      <vt:lpstr>REST ou Kafka : ce qu'on a observé</vt:lpstr>
      <vt:lpstr>Ce qu'on améliorerait</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Microservices : REST, Kafka et prédiction ML</dc:title>
  <dc:subject/>
  <dc:creator/>
  <cp:lastModifiedBy>Asma Yazidi</cp:lastModifiedBy>
  <cp:revision>1</cp:revision>
  <dcterms:created xsi:type="dcterms:W3CDTF">2026-10-11T20:54:57Z</dcterms:created>
  <dcterms:modified xsi:type="dcterms:W3CDTF">2026-10-13T07:26:03Z</dcterms:modified>
</cp:coreProperties>
</file>